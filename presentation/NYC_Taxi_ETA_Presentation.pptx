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67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15321" y="2021234"/>
            <a:ext cx="2761357" cy="295275"/>
          </a:xfrm>
          <a:prstGeom prst="rect">
            <a:avLst/>
          </a:prstGeom>
        </p:spPr>
      </p:pic>
      <p:sp>
        <p:nvSpPr>
          <p:cNvPr id="4" name="TextBox 3"/>
          <p:cNvSpPr txBox="1"/>
          <p:nvPr/>
        </p:nvSpPr>
        <p:spPr>
          <a:xfrm>
            <a:off x="3240018" y="2545109"/>
            <a:ext cx="5711963" cy="1139130"/>
          </a:xfrm>
          <a:prstGeom prst="rect">
            <a:avLst/>
          </a:prstGeom>
          <a:noFill/>
        </p:spPr>
        <p:txBody>
          <a:bodyPr wrap="square" lIns="0" tIns="0" rIns="0" bIns="0" anchor="t">
            <a:spAutoFit/>
          </a:bodyPr>
          <a:lstStyle/>
          <a:p>
            <a:pPr algn="ctr">
              <a:lnSpc>
                <a:spcPts val="4484"/>
              </a:lnSpc>
            </a:pPr>
            <a:r>
              <a:rPr sz="3900" b="1" i="0" u="none">
                <a:solidFill>
                  <a:srgbClr val="0F172A"/>
                </a:solidFill>
                <a:latin typeface="Poppins"/>
              </a:rPr>
              <a:t>NYC Taxi Trip Duration</a:t>
            </a:r>
            <a:r>
              <a:t>
</a:t>
            </a:r>
            <a:r>
              <a:rPr sz="3900" b="1" i="0" u="none">
                <a:solidFill>
                  <a:srgbClr val="0F172A"/>
                </a:solidFill>
                <a:latin typeface="Poppins"/>
              </a:rPr>
              <a:t> ETA Prediction Engine</a:t>
            </a:r>
          </a:p>
        </p:txBody>
      </p:sp>
      <p:sp>
        <p:nvSpPr>
          <p:cNvPr id="5" name="TextBox 4"/>
          <p:cNvSpPr txBox="1"/>
          <p:nvPr/>
        </p:nvSpPr>
        <p:spPr>
          <a:xfrm>
            <a:off x="1905000" y="3836640"/>
            <a:ext cx="8382000" cy="885825"/>
          </a:xfrm>
          <a:prstGeom prst="rect">
            <a:avLst/>
          </a:prstGeom>
          <a:noFill/>
        </p:spPr>
        <p:txBody>
          <a:bodyPr wrap="square" lIns="0" tIns="0" rIns="0" bIns="0" anchor="t">
            <a:spAutoFit/>
          </a:bodyPr>
          <a:lstStyle/>
          <a:p>
            <a:pPr algn="ctr">
              <a:lnSpc>
                <a:spcPts val="2325"/>
              </a:lnSpc>
            </a:pPr>
            <a:r>
              <a:rPr sz="1500" b="1" i="0" u="none">
                <a:solidFill>
                  <a:srgbClr val="64748B"/>
                </a:solidFill>
                <a:latin typeface="Inter"/>
              </a:rPr>
              <a:t>Slide 1 — Business Problem:</a:t>
            </a:r>
            <a:r>
              <a:rPr sz="1500" b="0" i="0" u="none">
                <a:solidFill>
                  <a:srgbClr val="64748B"/>
                </a:solidFill>
                <a:latin typeface="Inter"/>
              </a:rPr>
              <a:t> Reliable Estimated Time of Arrival (ETA) is critical for dispatch efficiency, fare transparency, and customer trust. Inaccurate ETAs cause driver churn, rider cancellations, and financial penalties during peak NYC traffic congestion.</a:t>
            </a:r>
          </a:p>
        </p:txBody>
      </p:sp>
      <p:pic>
        <p:nvPicPr>
          <p:cNvPr id="6" name="Picture 5" descr="image.png"/>
          <p:cNvPicPr>
            <a:picLocks noChangeAspect="1"/>
          </p:cNvPicPr>
          <p:nvPr/>
        </p:nvPicPr>
        <p:blipFill>
          <a:blip r:embed="rId4"/>
          <a:stretch>
            <a:fillRect/>
          </a:stretch>
        </p:blipFill>
        <p:spPr>
          <a:xfrm>
            <a:off x="4877246" y="2106959"/>
            <a:ext cx="178147" cy="133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81237"/>
            <a:ext cx="5334000" cy="3066901"/>
          </a:xfrm>
          <a:prstGeom prst="rect">
            <a:avLst/>
          </a:prstGeom>
        </p:spPr>
      </p:pic>
      <p:pic>
        <p:nvPicPr>
          <p:cNvPr id="4" name="Picture 3" descr="image.png"/>
          <p:cNvPicPr>
            <a:picLocks noChangeAspect="1"/>
          </p:cNvPicPr>
          <p:nvPr/>
        </p:nvPicPr>
        <p:blipFill>
          <a:blip r:embed="rId4"/>
          <a:stretch>
            <a:fillRect/>
          </a:stretch>
        </p:blipFill>
        <p:spPr>
          <a:xfrm>
            <a:off x="6286500" y="2281237"/>
            <a:ext cx="5334000" cy="3066901"/>
          </a:xfrm>
          <a:prstGeom prst="rect">
            <a:avLst/>
          </a:prstGeom>
        </p:spPr>
      </p:pic>
      <p:pic>
        <p:nvPicPr>
          <p:cNvPr id="5" name="Picture 4" descr="image.png"/>
          <p:cNvPicPr>
            <a:picLocks noChangeAspect="1"/>
          </p:cNvPicPr>
          <p:nvPr/>
        </p:nvPicPr>
        <p:blipFill>
          <a:blip r:embed="rId5"/>
          <a:stretch>
            <a:fillRect/>
          </a:stretch>
        </p:blipFill>
        <p:spPr>
          <a:xfrm>
            <a:off x="571500" y="557212"/>
            <a:ext cx="282624" cy="323850"/>
          </a:xfrm>
          <a:prstGeom prst="rect">
            <a:avLst/>
          </a:prstGeom>
        </p:spPr>
      </p:pic>
      <p:sp>
        <p:nvSpPr>
          <p:cNvPr id="6" name="TextBox 5"/>
          <p:cNvSpPr txBox="1"/>
          <p:nvPr/>
        </p:nvSpPr>
        <p:spPr>
          <a:xfrm>
            <a:off x="1219200" y="2595562"/>
            <a:ext cx="4590573" cy="314325"/>
          </a:xfrm>
          <a:prstGeom prst="rect">
            <a:avLst/>
          </a:prstGeom>
          <a:noFill/>
        </p:spPr>
        <p:txBody>
          <a:bodyPr wrap="square" lIns="0" tIns="0" rIns="0" bIns="0" anchor="ctr">
            <a:spAutoFit/>
          </a:bodyPr>
          <a:lstStyle/>
          <a:p>
            <a:pPr algn="l"/>
            <a:r>
              <a:rPr sz="1650" b="0" i="0" u="none">
                <a:solidFill>
                  <a:srgbClr val="2563EB"/>
                </a:solidFill>
                <a:latin typeface="Poppins SemiBold"/>
              </a:rPr>
              <a:t>Data Cleaning &amp; Quality Audit</a:t>
            </a:r>
          </a:p>
        </p:txBody>
      </p:sp>
      <p:sp>
        <p:nvSpPr>
          <p:cNvPr id="7" name="TextBox 6"/>
          <p:cNvSpPr txBox="1"/>
          <p:nvPr/>
        </p:nvSpPr>
        <p:spPr>
          <a:xfrm>
            <a:off x="885825" y="3005137"/>
            <a:ext cx="470535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Ingested </a:t>
            </a:r>
            <a:r>
              <a:rPr sz="1200" b="1" i="0" u="none">
                <a:solidFill>
                  <a:srgbClr val="475569"/>
                </a:solidFill>
                <a:latin typeface="Inter"/>
              </a:rPr>
              <a:t>19.5 Million raw trip records</a:t>
            </a:r>
            <a:r>
              <a:rPr sz="1200" b="0" i="0" u="none">
                <a:solidFill>
                  <a:srgbClr val="475569"/>
                </a:solidFill>
                <a:latin typeface="Inter"/>
              </a:rPr>
              <a:t> from NYC TLC Yellow Taxi parquet archives with automated validation schemas.</a:t>
            </a:r>
          </a:p>
        </p:txBody>
      </p:sp>
      <p:sp>
        <p:nvSpPr>
          <p:cNvPr id="8" name="TextBox 7"/>
          <p:cNvSpPr txBox="1"/>
          <p:nvPr/>
        </p:nvSpPr>
        <p:spPr>
          <a:xfrm>
            <a:off x="885825" y="3591817"/>
            <a:ext cx="470535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Filtered non-sensical trip durations (&lt;1 min or &gt;180 min), invalid pickup/dropoff zone IDs, and zero-passenger records.</a:t>
            </a:r>
          </a:p>
        </p:txBody>
      </p:sp>
      <p:sp>
        <p:nvSpPr>
          <p:cNvPr id="9" name="Rectangle 8"/>
          <p:cNvSpPr/>
          <p:nvPr/>
        </p:nvSpPr>
        <p:spPr>
          <a:xfrm>
            <a:off x="885825" y="4178498"/>
            <a:ext cx="4705350" cy="609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8225" y="4292798"/>
            <a:ext cx="4400550" cy="381000"/>
          </a:xfrm>
          <a:prstGeom prst="rect">
            <a:avLst/>
          </a:prstGeom>
          <a:noFill/>
        </p:spPr>
        <p:txBody>
          <a:bodyPr wrap="square" lIns="0" tIns="0" rIns="0" bIns="0" anchor="t">
            <a:spAutoFit/>
          </a:bodyPr>
          <a:lstStyle/>
          <a:p>
            <a:pPr algn="l"/>
            <a:r>
              <a:rPr sz="1200" b="1" i="0" u="none">
                <a:solidFill>
                  <a:srgbClr val="1E293B"/>
                </a:solidFill>
                <a:latin typeface="Inter"/>
              </a:rPr>
              <a:t>Quality Threshold:</a:t>
            </a:r>
            <a:r>
              <a:rPr sz="1200" b="0" i="0" u="none">
                <a:solidFill>
                  <a:srgbClr val="000000"/>
                </a:solidFill>
                <a:latin typeface="Inter"/>
              </a:rPr>
              <a:t> Removed 2.1% noisy records while preserving core urban traffic distribution patterns.</a:t>
            </a:r>
          </a:p>
        </p:txBody>
      </p:sp>
      <p:sp>
        <p:nvSpPr>
          <p:cNvPr id="11" name="Rectangle 10"/>
          <p:cNvSpPr/>
          <p:nvPr/>
        </p:nvSpPr>
        <p:spPr>
          <a:xfrm>
            <a:off x="885825" y="4178498"/>
            <a:ext cx="38100" cy="6096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05625" y="2595562"/>
            <a:ext cx="4620577" cy="314325"/>
          </a:xfrm>
          <a:prstGeom prst="rect">
            <a:avLst/>
          </a:prstGeom>
          <a:noFill/>
        </p:spPr>
        <p:txBody>
          <a:bodyPr wrap="square" lIns="0" tIns="0" rIns="0" bIns="0" anchor="ctr">
            <a:spAutoFit/>
          </a:bodyPr>
          <a:lstStyle/>
          <a:p>
            <a:pPr algn="l"/>
            <a:r>
              <a:rPr sz="1650" b="0" i="0" u="none">
                <a:solidFill>
                  <a:srgbClr val="2563EB"/>
                </a:solidFill>
                <a:latin typeface="Poppins SemiBold"/>
              </a:rPr>
              <a:t>Target Log Transformation</a:t>
            </a:r>
          </a:p>
        </p:txBody>
      </p:sp>
      <p:sp>
        <p:nvSpPr>
          <p:cNvPr id="13" name="TextBox 12"/>
          <p:cNvSpPr txBox="1"/>
          <p:nvPr/>
        </p:nvSpPr>
        <p:spPr>
          <a:xfrm>
            <a:off x="6600825" y="3005137"/>
            <a:ext cx="470535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Trip duration exhibits severe right skewness due to long-haul airport trips and extreme traffic delays.</a:t>
            </a:r>
          </a:p>
        </p:txBody>
      </p:sp>
      <p:sp>
        <p:nvSpPr>
          <p:cNvPr id="14" name="TextBox 13"/>
          <p:cNvSpPr txBox="1"/>
          <p:nvPr/>
        </p:nvSpPr>
        <p:spPr>
          <a:xfrm>
            <a:off x="6600825" y="3591817"/>
            <a:ext cx="4705350" cy="718095"/>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Applied log1p(duration) transformation to normalize residuals, stabilize variance, and prevent gradient explosion in gradient boosting.</a:t>
            </a:r>
          </a:p>
        </p:txBody>
      </p:sp>
      <p:sp>
        <p:nvSpPr>
          <p:cNvPr id="15" name="Rectangle 14"/>
          <p:cNvSpPr/>
          <p:nvPr/>
        </p:nvSpPr>
        <p:spPr>
          <a:xfrm>
            <a:off x="6600825" y="4424213"/>
            <a:ext cx="4705350" cy="609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53225" y="4538513"/>
            <a:ext cx="4400550" cy="381000"/>
          </a:xfrm>
          <a:prstGeom prst="rect">
            <a:avLst/>
          </a:prstGeom>
          <a:noFill/>
        </p:spPr>
        <p:txBody>
          <a:bodyPr wrap="square" lIns="0" tIns="0" rIns="0" bIns="0" anchor="t">
            <a:spAutoFit/>
          </a:bodyPr>
          <a:lstStyle/>
          <a:p>
            <a:pPr algn="l"/>
            <a:r>
              <a:rPr sz="1200" b="1" i="0" u="none">
                <a:solidFill>
                  <a:srgbClr val="1E293B"/>
                </a:solidFill>
                <a:latin typeface="Inter"/>
              </a:rPr>
              <a:t>Skewness Shift:</a:t>
            </a:r>
            <a:r>
              <a:rPr sz="1200" b="0" i="0" u="none">
                <a:solidFill>
                  <a:srgbClr val="000000"/>
                </a:solidFill>
                <a:latin typeface="Inter"/>
              </a:rPr>
              <a:t> Raw Skewness = </a:t>
            </a:r>
            <a:r>
              <a:rPr sz="1200" b="1" i="0" u="none">
                <a:solidFill>
                  <a:srgbClr val="1E293B"/>
                </a:solidFill>
                <a:latin typeface="Inter"/>
              </a:rPr>
              <a:t>2.256</a:t>
            </a:r>
            <a:r>
              <a:rPr sz="1200" b="0" i="0" u="none">
                <a:solidFill>
                  <a:srgbClr val="000000"/>
                </a:solidFill>
                <a:latin typeface="Inter"/>
              </a:rPr>
              <a:t> → Log Transformed Skewness = </a:t>
            </a:r>
            <a:r>
              <a:rPr sz="1200" b="1" i="0" u="none">
                <a:solidFill>
                  <a:srgbClr val="1E293B"/>
                </a:solidFill>
                <a:latin typeface="Inter"/>
              </a:rPr>
              <a:t>0.121</a:t>
            </a:r>
            <a:r>
              <a:rPr sz="1200" b="0" i="0" u="none">
                <a:solidFill>
                  <a:srgbClr val="000000"/>
                </a:solidFill>
                <a:latin typeface="Inter"/>
              </a:rPr>
              <a:t>.</a:t>
            </a:r>
          </a:p>
        </p:txBody>
      </p:sp>
      <p:sp>
        <p:nvSpPr>
          <p:cNvPr id="17" name="Rectangle 16"/>
          <p:cNvSpPr/>
          <p:nvPr/>
        </p:nvSpPr>
        <p:spPr>
          <a:xfrm>
            <a:off x="6600825" y="4424213"/>
            <a:ext cx="38100" cy="6096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6"/>
          <a:stretch>
            <a:fillRect/>
          </a:stretch>
        </p:blipFill>
        <p:spPr>
          <a:xfrm>
            <a:off x="885825" y="2647950"/>
            <a:ext cx="238125" cy="209550"/>
          </a:xfrm>
          <a:prstGeom prst="rect">
            <a:avLst/>
          </a:prstGeom>
        </p:spPr>
      </p:pic>
      <p:pic>
        <p:nvPicPr>
          <p:cNvPr id="19" name="Picture 18" descr="image.png"/>
          <p:cNvPicPr>
            <a:picLocks noChangeAspect="1"/>
          </p:cNvPicPr>
          <p:nvPr/>
        </p:nvPicPr>
        <p:blipFill>
          <a:blip r:embed="rId7"/>
          <a:stretch>
            <a:fillRect/>
          </a:stretch>
        </p:blipFill>
        <p:spPr>
          <a:xfrm>
            <a:off x="6600825" y="2647950"/>
            <a:ext cx="209550" cy="209550"/>
          </a:xfrm>
          <a:prstGeom prst="rect">
            <a:avLst/>
          </a:prstGeom>
        </p:spPr>
      </p:pic>
      <p:sp>
        <p:nvSpPr>
          <p:cNvPr id="20" name="TextBox 19"/>
          <p:cNvSpPr txBox="1"/>
          <p:nvPr/>
        </p:nvSpPr>
        <p:spPr>
          <a:xfrm>
            <a:off x="968424" y="476250"/>
            <a:ext cx="11184679" cy="485775"/>
          </a:xfrm>
          <a:prstGeom prst="rect">
            <a:avLst/>
          </a:prstGeom>
          <a:noFill/>
        </p:spPr>
        <p:txBody>
          <a:bodyPr wrap="square" lIns="0" tIns="0" rIns="0" bIns="0" anchor="ctr">
            <a:spAutoFit/>
          </a:bodyPr>
          <a:lstStyle/>
          <a:p>
            <a:pPr algn="l"/>
            <a:r>
              <a:rPr sz="2550" b="0" i="0" u="none">
                <a:solidFill>
                  <a:srgbClr val="1E293B"/>
                </a:solidFill>
                <a:latin typeface="Poppins SemiBold"/>
              </a:rPr>
              <a:t>Dataset &amp; Data Quality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006524" y="476250"/>
            <a:ext cx="5093917" cy="485775"/>
          </a:xfrm>
          <a:prstGeom prst="rect">
            <a:avLst/>
          </a:prstGeom>
          <a:noFill/>
        </p:spPr>
        <p:txBody>
          <a:bodyPr wrap="square" lIns="0" tIns="0" rIns="0" bIns="0" anchor="ctr">
            <a:spAutoFit/>
          </a:bodyPr>
          <a:lstStyle/>
          <a:p>
            <a:pPr algn="l"/>
            <a:r>
              <a:rPr sz="2550" b="0" i="0" u="none">
                <a:solidFill>
                  <a:srgbClr val="1E293B"/>
                </a:solidFill>
                <a:latin typeface="Poppins SemiBold"/>
              </a:rPr>
              <a:t>Leakage Audit</a:t>
            </a:r>
          </a:p>
        </p:txBody>
      </p:sp>
      <p:pic>
        <p:nvPicPr>
          <p:cNvPr id="4" name="Picture 3" descr="image.png"/>
          <p:cNvPicPr>
            <a:picLocks noChangeAspect="1"/>
          </p:cNvPicPr>
          <p:nvPr/>
        </p:nvPicPr>
        <p:blipFill>
          <a:blip r:embed="rId3"/>
          <a:stretch>
            <a:fillRect/>
          </a:stretch>
        </p:blipFill>
        <p:spPr>
          <a:xfrm>
            <a:off x="6334125" y="0"/>
            <a:ext cx="5857875" cy="6858000"/>
          </a:xfrm>
          <a:prstGeom prst="rect">
            <a:avLst/>
          </a:prstGeom>
        </p:spPr>
      </p:pic>
      <p:pic>
        <p:nvPicPr>
          <p:cNvPr id="5" name="Picture 4" descr="image.png"/>
          <p:cNvPicPr>
            <a:picLocks noChangeAspect="1"/>
          </p:cNvPicPr>
          <p:nvPr/>
        </p:nvPicPr>
        <p:blipFill>
          <a:blip r:embed="rId4"/>
          <a:stretch>
            <a:fillRect/>
          </a:stretch>
        </p:blipFill>
        <p:spPr>
          <a:xfrm>
            <a:off x="571500" y="557212"/>
            <a:ext cx="320724" cy="323850"/>
          </a:xfrm>
          <a:prstGeom prst="rect">
            <a:avLst/>
          </a:prstGeom>
        </p:spPr>
      </p:pic>
      <p:sp>
        <p:nvSpPr>
          <p:cNvPr id="6" name="TextBox 5"/>
          <p:cNvSpPr txBox="1"/>
          <p:nvPr/>
        </p:nvSpPr>
        <p:spPr>
          <a:xfrm>
            <a:off x="571500" y="2623244"/>
            <a:ext cx="5550693" cy="314325"/>
          </a:xfrm>
          <a:prstGeom prst="rect">
            <a:avLst/>
          </a:prstGeom>
          <a:noFill/>
        </p:spPr>
        <p:txBody>
          <a:bodyPr wrap="square" lIns="0" tIns="0" rIns="0" bIns="0" anchor="t">
            <a:spAutoFit/>
          </a:bodyPr>
          <a:lstStyle/>
          <a:p>
            <a:pPr algn="l"/>
            <a:r>
              <a:rPr sz="1650" b="0" i="0" u="none">
                <a:solidFill>
                  <a:srgbClr val="1E293B"/>
                </a:solidFill>
                <a:latin typeface="Poppins SemiBold"/>
              </a:rPr>
              <a:t>Strict Pre-Trip Feature Compliance</a:t>
            </a:r>
          </a:p>
        </p:txBody>
      </p:sp>
      <p:sp>
        <p:nvSpPr>
          <p:cNvPr id="7" name="TextBox 6"/>
          <p:cNvSpPr txBox="1"/>
          <p:nvPr/>
        </p:nvSpPr>
        <p:spPr>
          <a:xfrm>
            <a:off x="571500" y="3032819"/>
            <a:ext cx="5286375"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A production ETA model must calculate estimates at booking time before the taxi departs.</a:t>
            </a:r>
          </a:p>
        </p:txBody>
      </p:sp>
      <p:sp>
        <p:nvSpPr>
          <p:cNvPr id="8" name="TextBox 7"/>
          <p:cNvSpPr txBox="1"/>
          <p:nvPr/>
        </p:nvSpPr>
        <p:spPr>
          <a:xfrm>
            <a:off x="571500" y="3619500"/>
            <a:ext cx="5286375"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Post-trip variables such as actual trip distance, meter fare, tip amount, and dropoff timestamp were strictly isolated and removed.</a:t>
            </a:r>
          </a:p>
        </p:txBody>
      </p:sp>
      <p:sp>
        <p:nvSpPr>
          <p:cNvPr id="9" name="Rectangle 8"/>
          <p:cNvSpPr/>
          <p:nvPr/>
        </p:nvSpPr>
        <p:spPr>
          <a:xfrm>
            <a:off x="571500" y="4206180"/>
            <a:ext cx="5286375" cy="8001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3900" y="4320480"/>
            <a:ext cx="4981575" cy="571500"/>
          </a:xfrm>
          <a:prstGeom prst="rect">
            <a:avLst/>
          </a:prstGeom>
          <a:noFill/>
        </p:spPr>
        <p:txBody>
          <a:bodyPr wrap="square" lIns="0" tIns="0" rIns="0" bIns="0" anchor="t">
            <a:spAutoFit/>
          </a:bodyPr>
          <a:lstStyle/>
          <a:p>
            <a:pPr algn="l"/>
            <a:r>
              <a:rPr sz="1200" b="1" i="0" u="none">
                <a:solidFill>
                  <a:srgbClr val="1E293B"/>
                </a:solidFill>
                <a:latin typeface="Inter"/>
              </a:rPr>
              <a:t>Compliance Audit:</a:t>
            </a:r>
            <a:r>
              <a:rPr sz="1200" b="0" i="0" u="none">
                <a:solidFill>
                  <a:srgbClr val="000000"/>
                </a:solidFill>
                <a:latin typeface="Inter"/>
              </a:rPr>
              <a:t> Standardized feature pipeline guarantees 100% pre-trip compliance, preventing catastrophic production data leakage.</a:t>
            </a:r>
          </a:p>
        </p:txBody>
      </p:sp>
      <p:sp>
        <p:nvSpPr>
          <p:cNvPr id="11" name="Rectangle 10"/>
          <p:cNvSpPr/>
          <p:nvPr/>
        </p:nvSpPr>
        <p:spPr>
          <a:xfrm>
            <a:off x="571500" y="4206180"/>
            <a:ext cx="38100" cy="800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51794"/>
            <a:ext cx="3530649" cy="2725935"/>
          </a:xfrm>
          <a:prstGeom prst="rect">
            <a:avLst/>
          </a:prstGeom>
        </p:spPr>
      </p:pic>
      <p:pic>
        <p:nvPicPr>
          <p:cNvPr id="4" name="Picture 3" descr="image.png"/>
          <p:cNvPicPr>
            <a:picLocks noChangeAspect="1"/>
          </p:cNvPicPr>
          <p:nvPr/>
        </p:nvPicPr>
        <p:blipFill>
          <a:blip r:embed="rId4"/>
          <a:stretch>
            <a:fillRect/>
          </a:stretch>
        </p:blipFill>
        <p:spPr>
          <a:xfrm>
            <a:off x="4330749" y="2451794"/>
            <a:ext cx="3530649" cy="2725935"/>
          </a:xfrm>
          <a:prstGeom prst="rect">
            <a:avLst/>
          </a:prstGeom>
        </p:spPr>
      </p:pic>
      <p:pic>
        <p:nvPicPr>
          <p:cNvPr id="5" name="Picture 4" descr="image.png"/>
          <p:cNvPicPr>
            <a:picLocks noChangeAspect="1"/>
          </p:cNvPicPr>
          <p:nvPr/>
        </p:nvPicPr>
        <p:blipFill>
          <a:blip r:embed="rId5"/>
          <a:stretch>
            <a:fillRect/>
          </a:stretch>
        </p:blipFill>
        <p:spPr>
          <a:xfrm>
            <a:off x="8089999" y="2451794"/>
            <a:ext cx="3530649" cy="2725935"/>
          </a:xfrm>
          <a:prstGeom prst="rect">
            <a:avLst/>
          </a:prstGeom>
        </p:spPr>
      </p:pic>
      <p:pic>
        <p:nvPicPr>
          <p:cNvPr id="6" name="Picture 5" descr="image.png"/>
          <p:cNvPicPr>
            <a:picLocks noChangeAspect="1"/>
          </p:cNvPicPr>
          <p:nvPr/>
        </p:nvPicPr>
        <p:blipFill>
          <a:blip r:embed="rId6"/>
          <a:stretch>
            <a:fillRect/>
          </a:stretch>
        </p:blipFill>
        <p:spPr>
          <a:xfrm>
            <a:off x="571500" y="557212"/>
            <a:ext cx="406449" cy="323850"/>
          </a:xfrm>
          <a:prstGeom prst="rect">
            <a:avLst/>
          </a:prstGeom>
        </p:spPr>
      </p:pic>
      <p:pic>
        <p:nvPicPr>
          <p:cNvPr id="7" name="Picture 6" descr="image.png"/>
          <p:cNvPicPr>
            <a:picLocks noChangeAspect="1"/>
          </p:cNvPicPr>
          <p:nvPr/>
        </p:nvPicPr>
        <p:blipFill>
          <a:blip r:embed="rId7"/>
          <a:stretch>
            <a:fillRect/>
          </a:stretch>
        </p:blipFill>
        <p:spPr>
          <a:xfrm>
            <a:off x="847725" y="2728019"/>
            <a:ext cx="533400" cy="533400"/>
          </a:xfrm>
          <a:prstGeom prst="rect">
            <a:avLst/>
          </a:prstGeom>
        </p:spPr>
      </p:pic>
      <p:sp>
        <p:nvSpPr>
          <p:cNvPr id="8" name="TextBox 7"/>
          <p:cNvSpPr txBox="1"/>
          <p:nvPr/>
        </p:nvSpPr>
        <p:spPr>
          <a:xfrm>
            <a:off x="847725" y="3413819"/>
            <a:ext cx="3127109" cy="314325"/>
          </a:xfrm>
          <a:prstGeom prst="rect">
            <a:avLst/>
          </a:prstGeom>
          <a:noFill/>
        </p:spPr>
        <p:txBody>
          <a:bodyPr wrap="square" lIns="0" tIns="0" rIns="0" bIns="0" anchor="t">
            <a:spAutoFit/>
          </a:bodyPr>
          <a:lstStyle/>
          <a:p>
            <a:pPr algn="l"/>
            <a:r>
              <a:rPr sz="1650" b="0" i="0" u="none">
                <a:solidFill>
                  <a:srgbClr val="1E293B"/>
                </a:solidFill>
                <a:latin typeface="Poppins SemiBold"/>
              </a:rPr>
              <a:t>Temporal Dynamics</a:t>
            </a:r>
          </a:p>
        </p:txBody>
      </p:sp>
      <p:sp>
        <p:nvSpPr>
          <p:cNvPr id="9" name="TextBox 8"/>
          <p:cNvSpPr txBox="1"/>
          <p:nvPr/>
        </p:nvSpPr>
        <p:spPr>
          <a:xfrm>
            <a:off x="847725" y="3823394"/>
            <a:ext cx="2978199" cy="94476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Extracted pickup hour, day of week, rush-hour indicators (7-10 AM, 4-7 PM), and weekend/holiday flags to capture congestion.</a:t>
            </a:r>
          </a:p>
        </p:txBody>
      </p:sp>
      <p:pic>
        <p:nvPicPr>
          <p:cNvPr id="10" name="Picture 9" descr="image.png"/>
          <p:cNvPicPr>
            <a:picLocks noChangeAspect="1"/>
          </p:cNvPicPr>
          <p:nvPr/>
        </p:nvPicPr>
        <p:blipFill>
          <a:blip r:embed="rId8"/>
          <a:stretch>
            <a:fillRect/>
          </a:stretch>
        </p:blipFill>
        <p:spPr>
          <a:xfrm>
            <a:off x="4606974" y="2728019"/>
            <a:ext cx="533400" cy="533400"/>
          </a:xfrm>
          <a:prstGeom prst="rect">
            <a:avLst/>
          </a:prstGeom>
        </p:spPr>
      </p:pic>
      <p:sp>
        <p:nvSpPr>
          <p:cNvPr id="11" name="TextBox 10"/>
          <p:cNvSpPr txBox="1"/>
          <p:nvPr/>
        </p:nvSpPr>
        <p:spPr>
          <a:xfrm>
            <a:off x="4606974" y="3413819"/>
            <a:ext cx="3127109" cy="314325"/>
          </a:xfrm>
          <a:prstGeom prst="rect">
            <a:avLst/>
          </a:prstGeom>
          <a:noFill/>
        </p:spPr>
        <p:txBody>
          <a:bodyPr wrap="square" lIns="0" tIns="0" rIns="0" bIns="0" anchor="t">
            <a:spAutoFit/>
          </a:bodyPr>
          <a:lstStyle/>
          <a:p>
            <a:pPr algn="l"/>
            <a:r>
              <a:rPr sz="1650" b="0" i="0" u="none">
                <a:solidFill>
                  <a:srgbClr val="1E293B"/>
                </a:solidFill>
                <a:latin typeface="Poppins SemiBold"/>
              </a:rPr>
              <a:t>Cyclical Encoding</a:t>
            </a:r>
          </a:p>
        </p:txBody>
      </p:sp>
      <p:sp>
        <p:nvSpPr>
          <p:cNvPr id="12" name="TextBox 11"/>
          <p:cNvSpPr txBox="1"/>
          <p:nvPr/>
        </p:nvSpPr>
        <p:spPr>
          <a:xfrm>
            <a:off x="4606974" y="3823394"/>
            <a:ext cx="2978199" cy="96381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Transformed periodic time dimensions using sine/cosine functions (hour_sin, hour_cos) for continuous boundary transitions.</a:t>
            </a:r>
          </a:p>
        </p:txBody>
      </p:sp>
      <p:pic>
        <p:nvPicPr>
          <p:cNvPr id="13" name="Picture 12" descr="image.png"/>
          <p:cNvPicPr>
            <a:picLocks noChangeAspect="1"/>
          </p:cNvPicPr>
          <p:nvPr/>
        </p:nvPicPr>
        <p:blipFill>
          <a:blip r:embed="rId9"/>
          <a:stretch>
            <a:fillRect/>
          </a:stretch>
        </p:blipFill>
        <p:spPr>
          <a:xfrm>
            <a:off x="8366224" y="2728019"/>
            <a:ext cx="533400" cy="533400"/>
          </a:xfrm>
          <a:prstGeom prst="rect">
            <a:avLst/>
          </a:prstGeom>
        </p:spPr>
      </p:pic>
      <p:sp>
        <p:nvSpPr>
          <p:cNvPr id="14" name="TextBox 13"/>
          <p:cNvSpPr txBox="1"/>
          <p:nvPr/>
        </p:nvSpPr>
        <p:spPr>
          <a:xfrm>
            <a:off x="8366224" y="3413819"/>
            <a:ext cx="3127109" cy="314325"/>
          </a:xfrm>
          <a:prstGeom prst="rect">
            <a:avLst/>
          </a:prstGeom>
          <a:noFill/>
        </p:spPr>
        <p:txBody>
          <a:bodyPr wrap="square" lIns="0" tIns="0" rIns="0" bIns="0" anchor="t">
            <a:spAutoFit/>
          </a:bodyPr>
          <a:lstStyle/>
          <a:p>
            <a:pPr algn="l"/>
            <a:r>
              <a:rPr sz="1650" b="0" i="0" u="none">
                <a:solidFill>
                  <a:srgbClr val="1E293B"/>
                </a:solidFill>
                <a:latin typeface="Poppins SemiBold"/>
              </a:rPr>
              <a:t>Spatial Signals</a:t>
            </a:r>
          </a:p>
        </p:txBody>
      </p:sp>
      <p:sp>
        <p:nvSpPr>
          <p:cNvPr id="15" name="TextBox 14"/>
          <p:cNvSpPr txBox="1"/>
          <p:nvPr/>
        </p:nvSpPr>
        <p:spPr>
          <a:xfrm>
            <a:off x="8366224" y="3823394"/>
            <a:ext cx="2978199" cy="94476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Created pickup/dropoff zone Target Encodings, intra-borough flags, and specialized airport indicators (JFK, LGA, EWR).</a:t>
            </a:r>
          </a:p>
        </p:txBody>
      </p:sp>
      <p:pic>
        <p:nvPicPr>
          <p:cNvPr id="16" name="Picture 15" descr="image.png"/>
          <p:cNvPicPr>
            <a:picLocks noChangeAspect="1"/>
          </p:cNvPicPr>
          <p:nvPr/>
        </p:nvPicPr>
        <p:blipFill>
          <a:blip r:embed="rId10"/>
          <a:stretch>
            <a:fillRect/>
          </a:stretch>
        </p:blipFill>
        <p:spPr>
          <a:xfrm>
            <a:off x="962025" y="2842319"/>
            <a:ext cx="304800" cy="304800"/>
          </a:xfrm>
          <a:prstGeom prst="rect">
            <a:avLst/>
          </a:prstGeom>
        </p:spPr>
      </p:pic>
      <p:pic>
        <p:nvPicPr>
          <p:cNvPr id="17" name="Picture 16" descr="image.png"/>
          <p:cNvPicPr>
            <a:picLocks noChangeAspect="1"/>
          </p:cNvPicPr>
          <p:nvPr/>
        </p:nvPicPr>
        <p:blipFill>
          <a:blip r:embed="rId11"/>
          <a:stretch>
            <a:fillRect/>
          </a:stretch>
        </p:blipFill>
        <p:spPr>
          <a:xfrm>
            <a:off x="4683174" y="2842319"/>
            <a:ext cx="381000" cy="304800"/>
          </a:xfrm>
          <a:prstGeom prst="rect">
            <a:avLst/>
          </a:prstGeom>
        </p:spPr>
      </p:pic>
      <p:pic>
        <p:nvPicPr>
          <p:cNvPr id="18" name="Picture 17" descr="image.png"/>
          <p:cNvPicPr>
            <a:picLocks noChangeAspect="1"/>
          </p:cNvPicPr>
          <p:nvPr/>
        </p:nvPicPr>
        <p:blipFill>
          <a:blip r:embed="rId12"/>
          <a:stretch>
            <a:fillRect/>
          </a:stretch>
        </p:blipFill>
        <p:spPr>
          <a:xfrm>
            <a:off x="8461474" y="2842319"/>
            <a:ext cx="342900" cy="304800"/>
          </a:xfrm>
          <a:prstGeom prst="rect">
            <a:avLst/>
          </a:prstGeom>
        </p:spPr>
      </p:pic>
      <p:sp>
        <p:nvSpPr>
          <p:cNvPr id="19" name="TextBox 18"/>
          <p:cNvSpPr txBox="1"/>
          <p:nvPr/>
        </p:nvSpPr>
        <p:spPr>
          <a:xfrm>
            <a:off x="1092249" y="476250"/>
            <a:ext cx="11054662" cy="485775"/>
          </a:xfrm>
          <a:prstGeom prst="rect">
            <a:avLst/>
          </a:prstGeom>
          <a:noFill/>
        </p:spPr>
        <p:txBody>
          <a:bodyPr wrap="square" lIns="0" tIns="0" rIns="0" bIns="0" anchor="ctr">
            <a:spAutoFit/>
          </a:bodyPr>
          <a:lstStyle/>
          <a:p>
            <a:pPr algn="l"/>
            <a:r>
              <a:rPr sz="2550" b="0" i="0" u="none">
                <a:solidFill>
                  <a:srgbClr val="1E293B"/>
                </a:solidFill>
                <a:latin typeface="Poppins SemiBold"/>
              </a:rPr>
              <a:t>Feature Engineering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984176"/>
            <a:ext cx="11049000" cy="2598241"/>
          </a:xfrm>
          <a:prstGeom prst="rect">
            <a:avLst/>
          </a:prstGeom>
        </p:spPr>
      </p:pic>
      <p:pic>
        <p:nvPicPr>
          <p:cNvPr id="4" name="Picture 3" descr="image.png"/>
          <p:cNvPicPr>
            <a:picLocks noChangeAspect="1"/>
          </p:cNvPicPr>
          <p:nvPr/>
        </p:nvPicPr>
        <p:blipFill>
          <a:blip r:embed="rId4"/>
          <a:stretch>
            <a:fillRect/>
          </a:stretch>
        </p:blipFill>
        <p:spPr>
          <a:xfrm>
            <a:off x="571500" y="1247775"/>
            <a:ext cx="11049000" cy="5133975"/>
          </a:xfrm>
          <a:prstGeom prst="rect">
            <a:avLst/>
          </a:prstGeom>
        </p:spPr>
      </p:pic>
      <p:pic>
        <p:nvPicPr>
          <p:cNvPr id="5" name="Picture 4" descr="image.png"/>
          <p:cNvPicPr>
            <a:picLocks noChangeAspect="1"/>
          </p:cNvPicPr>
          <p:nvPr/>
        </p:nvPicPr>
        <p:blipFill>
          <a:blip r:embed="rId5"/>
          <a:stretch>
            <a:fillRect/>
          </a:stretch>
        </p:blipFill>
        <p:spPr>
          <a:xfrm>
            <a:off x="571500" y="557212"/>
            <a:ext cx="320724" cy="323850"/>
          </a:xfrm>
          <a:prstGeom prst="rect">
            <a:avLst/>
          </a:prstGeom>
        </p:spPr>
      </p:pic>
      <p:graphicFrame>
        <p:nvGraphicFramePr>
          <p:cNvPr id="6" name="Table 5"/>
          <p:cNvGraphicFramePr>
            <a:graphicFrameLocks noGrp="1"/>
          </p:cNvGraphicFramePr>
          <p:nvPr/>
        </p:nvGraphicFramePr>
        <p:xfrm>
          <a:off x="581025" y="1993701"/>
          <a:ext cx="11029946" cy="2579191"/>
        </p:xfrm>
        <a:graphic>
          <a:graphicData uri="http://schemas.openxmlformats.org/drawingml/2006/table">
            <a:tbl>
              <a:tblPr firstRow="1" bandRow="1">
                <a:tableStyleId>{5C22544A-7EE6-4342-B048-85BDC9FD1C3A}</a:tableStyleId>
              </a:tblPr>
              <a:tblGrid>
                <a:gridCol w="4040832"/>
                <a:gridCol w="1388566"/>
                <a:gridCol w="1491108"/>
                <a:gridCol w="1206549"/>
                <a:gridCol w="1263401"/>
                <a:gridCol w="1639490"/>
              </a:tblGrid>
              <a:tr h="515838">
                <a:tc>
                  <a:txBody>
                    <a:bodyPr/>
                    <a:lstStyle/>
                    <a:p>
                      <a:pPr algn="l"/>
                      <a:r>
                        <a:rPr sz="1125" b="0" i="0" u="none">
                          <a:solidFill>
                            <a:srgbClr val="FFFFFF"/>
                          </a:solidFill>
                          <a:latin typeface="Poppins SemiBold"/>
                        </a:rPr>
                        <a:t>Model Architecture</a:t>
                      </a:r>
                    </a:p>
                  </a:txBody>
                  <a:tcPr marL="63500" marR="63500" marT="25400" marB="25400" anchor="ctr">
                    <a:lnL>
                      <a:noFill/>
                    </a:lnL>
                    <a:lnR>
                      <a:noFill/>
                    </a:lnR>
                    <a:lnT>
                      <a:noFill/>
                    </a:lnT>
                    <a:lnB>
                      <a:noFill/>
                    </a:lnB>
                    <a:solidFill>
                      <a:srgbClr val="1E293B"/>
                    </a:solidFill>
                  </a:tcPr>
                </a:tc>
                <a:tc>
                  <a:txBody>
                    <a:bodyPr/>
                    <a:lstStyle/>
                    <a:p>
                      <a:pPr algn="l"/>
                      <a:r>
                        <a:rPr sz="1125" b="0" i="0" u="none">
                          <a:solidFill>
                            <a:srgbClr val="FFFFFF"/>
                          </a:solidFill>
                          <a:latin typeface="Poppins SemiBold"/>
                        </a:rPr>
                        <a:t>MAE (min)</a:t>
                      </a:r>
                    </a:p>
                  </a:txBody>
                  <a:tcPr marL="63500" marR="63500" marT="25400" marB="25400" anchor="ctr">
                    <a:lnL>
                      <a:noFill/>
                    </a:lnL>
                    <a:lnR>
                      <a:noFill/>
                    </a:lnR>
                    <a:lnT>
                      <a:noFill/>
                    </a:lnT>
                    <a:lnB>
                      <a:noFill/>
                    </a:lnB>
                    <a:solidFill>
                      <a:srgbClr val="1E293B"/>
                    </a:solidFill>
                  </a:tcPr>
                </a:tc>
                <a:tc>
                  <a:txBody>
                    <a:bodyPr/>
                    <a:lstStyle/>
                    <a:p>
                      <a:pPr algn="l"/>
                      <a:r>
                        <a:rPr sz="1125" b="0" i="0" u="none">
                          <a:solidFill>
                            <a:srgbClr val="FFFFFF"/>
                          </a:solidFill>
                          <a:latin typeface="Poppins SemiBold"/>
                        </a:rPr>
                        <a:t>RMSE (min)</a:t>
                      </a:r>
                    </a:p>
                  </a:txBody>
                  <a:tcPr marL="63500" marR="63500" marT="25400" marB="25400" anchor="ctr">
                    <a:lnL>
                      <a:noFill/>
                    </a:lnL>
                    <a:lnR>
                      <a:noFill/>
                    </a:lnR>
                    <a:lnT>
                      <a:noFill/>
                    </a:lnT>
                    <a:lnB>
                      <a:noFill/>
                    </a:lnB>
                    <a:solidFill>
                      <a:srgbClr val="1E293B"/>
                    </a:solidFill>
                  </a:tcPr>
                </a:tc>
                <a:tc>
                  <a:txBody>
                    <a:bodyPr/>
                    <a:lstStyle/>
                    <a:p>
                      <a:pPr algn="l"/>
                      <a:r>
                        <a:rPr sz="1125" b="0" i="0" u="none">
                          <a:solidFill>
                            <a:srgbClr val="FFFFFF"/>
                          </a:solidFill>
                          <a:latin typeface="Poppins SemiBold"/>
                        </a:rPr>
                        <a:t>R² Score</a:t>
                      </a:r>
                    </a:p>
                  </a:txBody>
                  <a:tcPr marL="63500" marR="63500" marT="25400" marB="25400" anchor="ctr">
                    <a:lnL>
                      <a:noFill/>
                    </a:lnL>
                    <a:lnR>
                      <a:noFill/>
                    </a:lnR>
                    <a:lnT>
                      <a:noFill/>
                    </a:lnT>
                    <a:lnB>
                      <a:noFill/>
                    </a:lnB>
                    <a:solidFill>
                      <a:srgbClr val="1E293B"/>
                    </a:solidFill>
                  </a:tcPr>
                </a:tc>
                <a:tc>
                  <a:txBody>
                    <a:bodyPr/>
                    <a:lstStyle/>
                    <a:p>
                      <a:pPr algn="l"/>
                      <a:r>
                        <a:rPr sz="1125" b="0" i="0" u="none">
                          <a:solidFill>
                            <a:srgbClr val="FFFFFF"/>
                          </a:solidFill>
                          <a:latin typeface="Poppins SemiBold"/>
                        </a:rPr>
                        <a:t>P90 Error</a:t>
                      </a:r>
                    </a:p>
                  </a:txBody>
                  <a:tcPr marL="63500" marR="63500" marT="25400" marB="25400" anchor="ctr">
                    <a:lnL>
                      <a:noFill/>
                    </a:lnL>
                    <a:lnR>
                      <a:noFill/>
                    </a:lnR>
                    <a:lnT>
                      <a:noFill/>
                    </a:lnT>
                    <a:lnB>
                      <a:noFill/>
                    </a:lnB>
                    <a:solidFill>
                      <a:srgbClr val="1E293B"/>
                    </a:solidFill>
                  </a:tcPr>
                </a:tc>
                <a:tc>
                  <a:txBody>
                    <a:bodyPr/>
                    <a:lstStyle/>
                    <a:p>
                      <a:pPr algn="l"/>
                      <a:r>
                        <a:rPr sz="1125" b="0" i="0" u="none">
                          <a:solidFill>
                            <a:srgbClr val="FFFFFF"/>
                          </a:solidFill>
                          <a:latin typeface="Poppins SemiBold"/>
                        </a:rPr>
                        <a:t>Acc ±5m (%)</a:t>
                      </a:r>
                    </a:p>
                  </a:txBody>
                  <a:tcPr marL="63500" marR="63500" marT="25400" marB="25400" anchor="ctr">
                    <a:lnL>
                      <a:noFill/>
                    </a:lnL>
                    <a:lnR>
                      <a:noFill/>
                    </a:lnR>
                    <a:lnT>
                      <a:noFill/>
                    </a:lnT>
                    <a:lnB>
                      <a:noFill/>
                    </a:lnB>
                    <a:solidFill>
                      <a:srgbClr val="1E293B"/>
                    </a:solidFill>
                  </a:tcPr>
                </a:tc>
              </a:tr>
              <a:tr h="515838">
                <a:tc>
                  <a:txBody>
                    <a:bodyPr/>
                    <a:lstStyle/>
                    <a:p>
                      <a:pPr algn="l"/>
                      <a:r>
                        <a:rPr sz="1200" b="0" i="0" u="none">
                          <a:solidFill>
                            <a:srgbClr val="475569"/>
                          </a:solidFill>
                          <a:latin typeface="Inter"/>
                        </a:rPr>
                        <a:t>Baseline 1: Global Mean</a:t>
                      </a:r>
                    </a:p>
                  </a:txBody>
                  <a:tcPr marL="63500" marR="63500" marT="25400" marB="25400" anchor="ctr">
                    <a:lnL>
                      <a:noFill/>
                    </a:lnL>
                    <a:lnR>
                      <a:noFill/>
                    </a:lnR>
                    <a:lnT>
                      <a:noFill/>
                    </a:lnT>
                    <a:lnB>
                      <a:noFill/>
                    </a:lnB>
                    <a:noFill/>
                  </a:tcPr>
                </a:tc>
                <a:tc>
                  <a:txBody>
                    <a:bodyPr/>
                    <a:lstStyle/>
                    <a:p>
                      <a:pPr algn="l"/>
                      <a:r>
                        <a:rPr sz="1200" b="0" i="0" u="none">
                          <a:solidFill>
                            <a:srgbClr val="475569"/>
                          </a:solidFill>
                          <a:latin typeface="Inter"/>
                        </a:rPr>
                        <a:t>8.34</a:t>
                      </a:r>
                    </a:p>
                  </a:txBody>
                  <a:tcPr marL="63500" marR="63500" marT="25400" marB="25400" anchor="ctr">
                    <a:lnL>
                      <a:noFill/>
                    </a:lnL>
                    <a:lnR>
                      <a:noFill/>
                    </a:lnR>
                    <a:lnT>
                      <a:noFill/>
                    </a:lnT>
                    <a:lnB>
                      <a:noFill/>
                    </a:lnB>
                    <a:noFill/>
                  </a:tcPr>
                </a:tc>
                <a:tc>
                  <a:txBody>
                    <a:bodyPr/>
                    <a:lstStyle/>
                    <a:p>
                      <a:pPr algn="l"/>
                      <a:r>
                        <a:rPr sz="1200" b="0" i="0" u="none">
                          <a:solidFill>
                            <a:srgbClr val="475569"/>
                          </a:solidFill>
                          <a:latin typeface="Inter"/>
                        </a:rPr>
                        <a:t>11.45</a:t>
                      </a:r>
                    </a:p>
                  </a:txBody>
                  <a:tcPr marL="63500" marR="63500" marT="25400" marB="25400" anchor="ctr">
                    <a:lnL>
                      <a:noFill/>
                    </a:lnL>
                    <a:lnR>
                      <a:noFill/>
                    </a:lnR>
                    <a:lnT>
                      <a:noFill/>
                    </a:lnT>
                    <a:lnB>
                      <a:noFill/>
                    </a:lnB>
                    <a:noFill/>
                  </a:tcPr>
                </a:tc>
                <a:tc>
                  <a:txBody>
                    <a:bodyPr/>
                    <a:lstStyle/>
                    <a:p>
                      <a:pPr algn="l"/>
                      <a:r>
                        <a:rPr sz="1200" b="0" i="0" u="none">
                          <a:solidFill>
                            <a:srgbClr val="475569"/>
                          </a:solidFill>
                          <a:latin typeface="Inter"/>
                        </a:rPr>
                        <a:t>0.000</a:t>
                      </a:r>
                    </a:p>
                  </a:txBody>
                  <a:tcPr marL="63500" marR="63500" marT="25400" marB="25400" anchor="ctr">
                    <a:lnL>
                      <a:noFill/>
                    </a:lnL>
                    <a:lnR>
                      <a:noFill/>
                    </a:lnR>
                    <a:lnT>
                      <a:noFill/>
                    </a:lnT>
                    <a:lnB>
                      <a:noFill/>
                    </a:lnB>
                    <a:noFill/>
                  </a:tcPr>
                </a:tc>
                <a:tc>
                  <a:txBody>
                    <a:bodyPr/>
                    <a:lstStyle/>
                    <a:p>
                      <a:pPr algn="l"/>
                      <a:r>
                        <a:rPr sz="1200" b="0" i="0" u="none">
                          <a:solidFill>
                            <a:srgbClr val="475569"/>
                          </a:solidFill>
                          <a:latin typeface="Inter"/>
                        </a:rPr>
                        <a:t>17.82 min</a:t>
                      </a:r>
                    </a:p>
                  </a:txBody>
                  <a:tcPr marL="63500" marR="63500" marT="25400" marB="25400" anchor="ctr">
                    <a:lnL>
                      <a:noFill/>
                    </a:lnL>
                    <a:lnR>
                      <a:noFill/>
                    </a:lnR>
                    <a:lnT>
                      <a:noFill/>
                    </a:lnT>
                    <a:lnB>
                      <a:noFill/>
                    </a:lnB>
                    <a:noFill/>
                  </a:tcPr>
                </a:tc>
                <a:tc>
                  <a:txBody>
                    <a:bodyPr/>
                    <a:lstStyle/>
                    <a:p>
                      <a:pPr algn="l"/>
                      <a:r>
                        <a:rPr sz="1200" b="0" i="0" u="none">
                          <a:solidFill>
                            <a:srgbClr val="475569"/>
                          </a:solidFill>
                          <a:latin typeface="Inter"/>
                        </a:rPr>
                        <a:t>38.5%</a:t>
                      </a:r>
                    </a:p>
                  </a:txBody>
                  <a:tcPr marL="63500" marR="63500" marT="25400" marB="25400" anchor="ctr">
                    <a:lnL>
                      <a:noFill/>
                    </a:lnL>
                    <a:lnR>
                      <a:noFill/>
                    </a:lnR>
                    <a:lnT>
                      <a:noFill/>
                    </a:lnT>
                    <a:lnB>
                      <a:noFill/>
                    </a:lnB>
                    <a:noFill/>
                  </a:tcPr>
                </a:tc>
              </a:tr>
              <a:tr h="515838">
                <a:tc>
                  <a:txBody>
                    <a:bodyPr/>
                    <a:lstStyle/>
                    <a:p>
                      <a:pPr algn="l"/>
                      <a:r>
                        <a:rPr sz="1200" b="0" i="0" u="none">
                          <a:solidFill>
                            <a:srgbClr val="475569"/>
                          </a:solidFill>
                          <a:latin typeface="Inter"/>
                        </a:rPr>
                        <a:t>Baseline 2: Global Median</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475569"/>
                          </a:solidFill>
                          <a:latin typeface="Inter"/>
                        </a:rPr>
                        <a:t>7.81</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475569"/>
                          </a:solidFill>
                          <a:latin typeface="Inter"/>
                        </a:rPr>
                        <a:t>11.98</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475569"/>
                          </a:solidFill>
                          <a:latin typeface="Inter"/>
                        </a:rPr>
                        <a:t>-0.082</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475569"/>
                          </a:solidFill>
                          <a:latin typeface="Inter"/>
                        </a:rPr>
                        <a:t>16.51 min</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475569"/>
                          </a:solidFill>
                          <a:latin typeface="Inter"/>
                        </a:rPr>
                        <a:t>42.1%</a:t>
                      </a:r>
                    </a:p>
                  </a:txBody>
                  <a:tcPr marL="63500" marR="63500" marT="25400" marB="25400" anchor="ctr">
                    <a:lnL>
                      <a:noFill/>
                    </a:lnL>
                    <a:lnR>
                      <a:noFill/>
                    </a:lnR>
                    <a:lnT>
                      <a:noFill/>
                    </a:lnT>
                    <a:lnB>
                      <a:noFill/>
                    </a:lnB>
                    <a:solidFill>
                      <a:srgbClr val="F8FAFC"/>
                    </a:solidFill>
                  </a:tcPr>
                </a:tc>
              </a:tr>
              <a:tr h="515838">
                <a:tc>
                  <a:txBody>
                    <a:bodyPr/>
                    <a:lstStyle/>
                    <a:p>
                      <a:pPr algn="l"/>
                      <a:r>
                        <a:rPr sz="1200" b="0" i="0" u="none">
                          <a:solidFill>
                            <a:srgbClr val="475569"/>
                          </a:solidFill>
                          <a:latin typeface="Inter"/>
                        </a:rPr>
                        <a:t>Ridge Linear Regression (Log Target)</a:t>
                      </a:r>
                    </a:p>
                  </a:txBody>
                  <a:tcPr marL="63500" marR="63500" marT="25400" marB="25400" anchor="ctr">
                    <a:lnL>
                      <a:noFill/>
                    </a:lnL>
                    <a:lnR>
                      <a:noFill/>
                    </a:lnR>
                    <a:lnT>
                      <a:noFill/>
                    </a:lnT>
                    <a:lnB>
                      <a:noFill/>
                    </a:lnB>
                    <a:noFill/>
                  </a:tcPr>
                </a:tc>
                <a:tc>
                  <a:txBody>
                    <a:bodyPr/>
                    <a:lstStyle/>
                    <a:p>
                      <a:pPr algn="l"/>
                      <a:r>
                        <a:rPr sz="1200" b="0" i="0" u="none">
                          <a:solidFill>
                            <a:srgbClr val="475569"/>
                          </a:solidFill>
                          <a:latin typeface="Inter"/>
                        </a:rPr>
                        <a:t>5.12</a:t>
                      </a:r>
                    </a:p>
                  </a:txBody>
                  <a:tcPr marL="63500" marR="63500" marT="25400" marB="25400" anchor="ctr">
                    <a:lnL>
                      <a:noFill/>
                    </a:lnL>
                    <a:lnR>
                      <a:noFill/>
                    </a:lnR>
                    <a:lnT>
                      <a:noFill/>
                    </a:lnT>
                    <a:lnB>
                      <a:noFill/>
                    </a:lnB>
                    <a:noFill/>
                  </a:tcPr>
                </a:tc>
                <a:tc>
                  <a:txBody>
                    <a:bodyPr/>
                    <a:lstStyle/>
                    <a:p>
                      <a:pPr algn="l"/>
                      <a:r>
                        <a:rPr sz="1200" b="0" i="0" u="none">
                          <a:solidFill>
                            <a:srgbClr val="475569"/>
                          </a:solidFill>
                          <a:latin typeface="Inter"/>
                        </a:rPr>
                        <a:t>8.31</a:t>
                      </a:r>
                    </a:p>
                  </a:txBody>
                  <a:tcPr marL="63500" marR="63500" marT="25400" marB="25400" anchor="ctr">
                    <a:lnL>
                      <a:noFill/>
                    </a:lnL>
                    <a:lnR>
                      <a:noFill/>
                    </a:lnR>
                    <a:lnT>
                      <a:noFill/>
                    </a:lnT>
                    <a:lnB>
                      <a:noFill/>
                    </a:lnB>
                    <a:noFill/>
                  </a:tcPr>
                </a:tc>
                <a:tc>
                  <a:txBody>
                    <a:bodyPr/>
                    <a:lstStyle/>
                    <a:p>
                      <a:pPr algn="l"/>
                      <a:r>
                        <a:rPr sz="1200" b="0" i="0" u="none">
                          <a:solidFill>
                            <a:srgbClr val="475569"/>
                          </a:solidFill>
                          <a:latin typeface="Inter"/>
                        </a:rPr>
                        <a:t>0.485</a:t>
                      </a:r>
                    </a:p>
                  </a:txBody>
                  <a:tcPr marL="63500" marR="63500" marT="25400" marB="25400" anchor="ctr">
                    <a:lnL>
                      <a:noFill/>
                    </a:lnL>
                    <a:lnR>
                      <a:noFill/>
                    </a:lnR>
                    <a:lnT>
                      <a:noFill/>
                    </a:lnT>
                    <a:lnB>
                      <a:noFill/>
                    </a:lnB>
                    <a:noFill/>
                  </a:tcPr>
                </a:tc>
                <a:tc>
                  <a:txBody>
                    <a:bodyPr/>
                    <a:lstStyle/>
                    <a:p>
                      <a:pPr algn="l"/>
                      <a:r>
                        <a:rPr sz="1200" b="0" i="0" u="none">
                          <a:solidFill>
                            <a:srgbClr val="475569"/>
                          </a:solidFill>
                          <a:latin typeface="Inter"/>
                        </a:rPr>
                        <a:t>11.24 min</a:t>
                      </a:r>
                    </a:p>
                  </a:txBody>
                  <a:tcPr marL="63500" marR="63500" marT="25400" marB="25400" anchor="ctr">
                    <a:lnL>
                      <a:noFill/>
                    </a:lnL>
                    <a:lnR>
                      <a:noFill/>
                    </a:lnR>
                    <a:lnT>
                      <a:noFill/>
                    </a:lnT>
                    <a:lnB>
                      <a:noFill/>
                    </a:lnB>
                    <a:noFill/>
                  </a:tcPr>
                </a:tc>
                <a:tc>
                  <a:txBody>
                    <a:bodyPr/>
                    <a:lstStyle/>
                    <a:p>
                      <a:pPr algn="l"/>
                      <a:r>
                        <a:rPr sz="1200" b="0" i="0" u="none">
                          <a:solidFill>
                            <a:srgbClr val="475569"/>
                          </a:solidFill>
                          <a:latin typeface="Inter"/>
                        </a:rPr>
                        <a:t>61.8%</a:t>
                      </a:r>
                    </a:p>
                  </a:txBody>
                  <a:tcPr marL="63500" marR="63500" marT="25400" marB="25400" anchor="ctr">
                    <a:lnL>
                      <a:noFill/>
                    </a:lnL>
                    <a:lnR>
                      <a:noFill/>
                    </a:lnR>
                    <a:lnT>
                      <a:noFill/>
                    </a:lnT>
                    <a:lnB>
                      <a:noFill/>
                    </a:lnB>
                    <a:noFill/>
                  </a:tcPr>
                </a:tc>
              </a:tr>
              <a:tr h="515839">
                <a:tc>
                  <a:txBody>
                    <a:bodyPr/>
                    <a:lstStyle/>
                    <a:p>
                      <a:pPr algn="l"/>
                      <a:r>
                        <a:rPr sz="1200" b="0" i="0" u="none">
                          <a:solidFill>
                            <a:srgbClr val="1E40AF"/>
                          </a:solidFill>
                          <a:latin typeface="Inter SemiBold"/>
                        </a:rPr>
                        <a:t>Tuned HistGradientBoosting (Champion)</a:t>
                      </a:r>
                    </a:p>
                  </a:txBody>
                  <a:tcPr marL="63500" marR="63500" marT="25400" marB="25400" anchor="ctr">
                    <a:lnL>
                      <a:noFill/>
                    </a:lnL>
                    <a:lnR>
                      <a:noFill/>
                    </a:lnR>
                    <a:lnT>
                      <a:noFill/>
                    </a:lnT>
                    <a:lnB>
                      <a:noFill/>
                    </a:lnB>
                    <a:solidFill>
                      <a:srgbClr val="EFF6FF"/>
                    </a:solidFill>
                  </a:tcPr>
                </a:tc>
                <a:tc>
                  <a:txBody>
                    <a:bodyPr/>
                    <a:lstStyle/>
                    <a:p>
                      <a:pPr algn="l"/>
                      <a:r>
                        <a:rPr sz="1200" b="0" i="0" u="none">
                          <a:solidFill>
                            <a:srgbClr val="1E40AF"/>
                          </a:solidFill>
                          <a:latin typeface="Inter SemiBold"/>
                        </a:rPr>
                        <a:t>3.48</a:t>
                      </a:r>
                    </a:p>
                  </a:txBody>
                  <a:tcPr marL="63500" marR="63500" marT="25400" marB="25400" anchor="ctr">
                    <a:lnL>
                      <a:noFill/>
                    </a:lnL>
                    <a:lnR>
                      <a:noFill/>
                    </a:lnR>
                    <a:lnT>
                      <a:noFill/>
                    </a:lnT>
                    <a:lnB>
                      <a:noFill/>
                    </a:lnB>
                    <a:solidFill>
                      <a:srgbClr val="EFF6FF"/>
                    </a:solidFill>
                  </a:tcPr>
                </a:tc>
                <a:tc>
                  <a:txBody>
                    <a:bodyPr/>
                    <a:lstStyle/>
                    <a:p>
                      <a:pPr algn="l"/>
                      <a:r>
                        <a:rPr sz="1200" b="0" i="0" u="none">
                          <a:solidFill>
                            <a:srgbClr val="1E40AF"/>
                          </a:solidFill>
                          <a:latin typeface="Inter SemiBold"/>
                        </a:rPr>
                        <a:t>5.94</a:t>
                      </a:r>
                    </a:p>
                  </a:txBody>
                  <a:tcPr marL="63500" marR="63500" marT="25400" marB="25400" anchor="ctr">
                    <a:lnL>
                      <a:noFill/>
                    </a:lnL>
                    <a:lnR>
                      <a:noFill/>
                    </a:lnR>
                    <a:lnT>
                      <a:noFill/>
                    </a:lnT>
                    <a:lnB>
                      <a:noFill/>
                    </a:lnB>
                    <a:solidFill>
                      <a:srgbClr val="EFF6FF"/>
                    </a:solidFill>
                  </a:tcPr>
                </a:tc>
                <a:tc>
                  <a:txBody>
                    <a:bodyPr/>
                    <a:lstStyle/>
                    <a:p>
                      <a:pPr algn="l"/>
                      <a:r>
                        <a:rPr sz="1200" b="0" i="0" u="none">
                          <a:solidFill>
                            <a:srgbClr val="1E40AF"/>
                          </a:solidFill>
                          <a:latin typeface="Inter SemiBold"/>
                        </a:rPr>
                        <a:t>0.724</a:t>
                      </a:r>
                    </a:p>
                  </a:txBody>
                  <a:tcPr marL="63500" marR="63500" marT="25400" marB="25400" anchor="ctr">
                    <a:lnL>
                      <a:noFill/>
                    </a:lnL>
                    <a:lnR>
                      <a:noFill/>
                    </a:lnR>
                    <a:lnT>
                      <a:noFill/>
                    </a:lnT>
                    <a:lnB>
                      <a:noFill/>
                    </a:lnB>
                    <a:solidFill>
                      <a:srgbClr val="EFF6FF"/>
                    </a:solidFill>
                  </a:tcPr>
                </a:tc>
                <a:tc>
                  <a:txBody>
                    <a:bodyPr/>
                    <a:lstStyle/>
                    <a:p>
                      <a:pPr algn="l"/>
                      <a:r>
                        <a:rPr sz="1200" b="0" i="0" u="none">
                          <a:solidFill>
                            <a:srgbClr val="1E40AF"/>
                          </a:solidFill>
                          <a:latin typeface="Inter SemiBold"/>
                        </a:rPr>
                        <a:t>7.31 min</a:t>
                      </a:r>
                    </a:p>
                  </a:txBody>
                  <a:tcPr marL="63500" marR="63500" marT="25400" marB="25400" anchor="ctr">
                    <a:lnL>
                      <a:noFill/>
                    </a:lnL>
                    <a:lnR>
                      <a:noFill/>
                    </a:lnR>
                    <a:lnT>
                      <a:noFill/>
                    </a:lnT>
                    <a:lnB>
                      <a:noFill/>
                    </a:lnB>
                    <a:solidFill>
                      <a:srgbClr val="EFF6FF"/>
                    </a:solidFill>
                  </a:tcPr>
                </a:tc>
                <a:tc>
                  <a:txBody>
                    <a:bodyPr/>
                    <a:lstStyle/>
                    <a:p>
                      <a:pPr algn="l"/>
                      <a:r>
                        <a:rPr sz="1200" b="0" i="0" u="none">
                          <a:solidFill>
                            <a:srgbClr val="1E40AF"/>
                          </a:solidFill>
                          <a:latin typeface="Inter SemiBold"/>
                        </a:rPr>
                        <a:t>79.4% Best</a:t>
                      </a:r>
                    </a:p>
                  </a:txBody>
                  <a:tcPr marL="63500" marR="63500" marT="25400" marB="25400" anchor="ctr">
                    <a:lnL>
                      <a:noFill/>
                    </a:lnL>
                    <a:lnR>
                      <a:noFill/>
                    </a:lnR>
                    <a:lnT>
                      <a:noFill/>
                    </a:lnT>
                    <a:lnB>
                      <a:noFill/>
                    </a:lnB>
                    <a:solidFill>
                      <a:srgbClr val="EFF6FF"/>
                    </a:solidFill>
                  </a:tcPr>
                </a:tc>
              </a:tr>
            </a:tbl>
          </a:graphicData>
        </a:graphic>
      </p:graphicFrame>
      <p:sp>
        <p:nvSpPr>
          <p:cNvPr id="7" name="Rectangle 6"/>
          <p:cNvSpPr/>
          <p:nvPr/>
        </p:nvSpPr>
        <p:spPr>
          <a:xfrm>
            <a:off x="581025" y="2477095"/>
            <a:ext cx="40408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621857" y="2477095"/>
            <a:ext cx="1388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010423" y="2477095"/>
            <a:ext cx="14911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01532" y="2477095"/>
            <a:ext cx="120654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708082" y="2477095"/>
            <a:ext cx="12634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971484" y="2477095"/>
            <a:ext cx="16394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81025" y="2989510"/>
            <a:ext cx="40408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621857" y="2989510"/>
            <a:ext cx="1388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10423" y="2989510"/>
            <a:ext cx="14911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501532" y="2989510"/>
            <a:ext cx="120654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708082" y="2989510"/>
            <a:ext cx="12634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971484" y="2989510"/>
            <a:ext cx="16394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81025" y="3501925"/>
            <a:ext cx="40408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621857" y="3501925"/>
            <a:ext cx="1388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10423" y="3501925"/>
            <a:ext cx="14911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501532" y="3501925"/>
            <a:ext cx="120654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708082" y="3501925"/>
            <a:ext cx="12634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971484" y="3501925"/>
            <a:ext cx="16394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81025" y="4014341"/>
            <a:ext cx="40408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621857" y="4014341"/>
            <a:ext cx="1388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010423" y="4014341"/>
            <a:ext cx="14911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501532" y="4014341"/>
            <a:ext cx="120654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708082" y="4014341"/>
            <a:ext cx="12634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971484" y="4014341"/>
            <a:ext cx="16394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81025" y="4558605"/>
            <a:ext cx="40408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621857" y="4558605"/>
            <a:ext cx="1388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010423" y="4558605"/>
            <a:ext cx="14911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501532" y="4558605"/>
            <a:ext cx="120654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708082" y="4558605"/>
            <a:ext cx="12634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971484" y="4558605"/>
            <a:ext cx="16394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image.png"/>
          <p:cNvPicPr>
            <a:picLocks noChangeAspect="1"/>
          </p:cNvPicPr>
          <p:nvPr/>
        </p:nvPicPr>
        <p:blipFill>
          <a:blip r:embed="rId6"/>
          <a:stretch>
            <a:fillRect/>
          </a:stretch>
        </p:blipFill>
        <p:spPr>
          <a:xfrm>
            <a:off x="10685859" y="4161978"/>
            <a:ext cx="428625" cy="268039"/>
          </a:xfrm>
          <a:prstGeom prst="rect">
            <a:avLst/>
          </a:prstGeom>
        </p:spPr>
      </p:pic>
      <p:sp>
        <p:nvSpPr>
          <p:cNvPr id="38" name="TextBox 37"/>
          <p:cNvSpPr txBox="1"/>
          <p:nvPr/>
        </p:nvSpPr>
        <p:spPr>
          <a:xfrm>
            <a:off x="1006524" y="476250"/>
            <a:ext cx="11144674" cy="485775"/>
          </a:xfrm>
          <a:prstGeom prst="rect">
            <a:avLst/>
          </a:prstGeom>
          <a:noFill/>
        </p:spPr>
        <p:txBody>
          <a:bodyPr wrap="square" lIns="0" tIns="0" rIns="0" bIns="0" anchor="ctr">
            <a:spAutoFit/>
          </a:bodyPr>
          <a:lstStyle/>
          <a:p>
            <a:pPr algn="l"/>
            <a:r>
              <a:rPr sz="2550" b="0" i="0" u="none">
                <a:solidFill>
                  <a:srgbClr val="1E293B"/>
                </a:solidFill>
                <a:latin typeface="Poppins SemiBold"/>
              </a:rPr>
              <a:t>Model Comparison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557212"/>
            <a:ext cx="358824" cy="323850"/>
          </a:xfrm>
          <a:prstGeom prst="rect">
            <a:avLst/>
          </a:prstGeom>
        </p:spPr>
      </p:pic>
      <p:sp>
        <p:nvSpPr>
          <p:cNvPr id="4" name="TextBox 3"/>
          <p:cNvSpPr txBox="1"/>
          <p:nvPr/>
        </p:nvSpPr>
        <p:spPr>
          <a:xfrm>
            <a:off x="571500" y="3176587"/>
            <a:ext cx="5334000" cy="952500"/>
          </a:xfrm>
          <a:prstGeom prst="rect">
            <a:avLst/>
          </a:prstGeom>
          <a:noFill/>
        </p:spPr>
        <p:txBody>
          <a:bodyPr wrap="square" lIns="0" tIns="0" rIns="0" bIns="0" anchor="t">
            <a:spAutoFit/>
          </a:bodyPr>
          <a:lstStyle/>
          <a:p>
            <a:pPr algn="ctr">
              <a:lnSpc>
                <a:spcPts val="7500"/>
              </a:lnSpc>
            </a:pPr>
            <a:r>
              <a:rPr sz="7500" b="1" i="0" u="none">
                <a:solidFill>
                  <a:srgbClr val="2563EB"/>
                </a:solidFill>
                <a:latin typeface="Poppins"/>
              </a:rPr>
              <a:t>5-Fold</a:t>
            </a:r>
          </a:p>
        </p:txBody>
      </p:sp>
      <p:sp>
        <p:nvSpPr>
          <p:cNvPr id="5" name="TextBox 4"/>
          <p:cNvSpPr txBox="1"/>
          <p:nvPr/>
        </p:nvSpPr>
        <p:spPr>
          <a:xfrm>
            <a:off x="571500" y="4224337"/>
            <a:ext cx="5334000" cy="228600"/>
          </a:xfrm>
          <a:prstGeom prst="rect">
            <a:avLst/>
          </a:prstGeom>
          <a:noFill/>
        </p:spPr>
        <p:txBody>
          <a:bodyPr wrap="square" lIns="0" tIns="0" rIns="0" bIns="0" anchor="t">
            <a:spAutoFit/>
          </a:bodyPr>
          <a:lstStyle/>
          <a:p>
            <a:pPr algn="ctr"/>
            <a:r>
              <a:rPr sz="1500" b="0" i="0" u="none">
                <a:solidFill>
                  <a:srgbClr val="475569"/>
                </a:solidFill>
                <a:latin typeface="Inter SemiBold"/>
              </a:rPr>
              <a:t>Time-Based Split Cross-Validation</a:t>
            </a:r>
          </a:p>
        </p:txBody>
      </p:sp>
      <p:sp>
        <p:nvSpPr>
          <p:cNvPr id="6" name="TextBox 5"/>
          <p:cNvSpPr txBox="1"/>
          <p:nvPr/>
        </p:nvSpPr>
        <p:spPr>
          <a:xfrm>
            <a:off x="6286500" y="2718494"/>
            <a:ext cx="5600700" cy="314325"/>
          </a:xfrm>
          <a:prstGeom prst="rect">
            <a:avLst/>
          </a:prstGeom>
          <a:noFill/>
        </p:spPr>
        <p:txBody>
          <a:bodyPr wrap="square" lIns="0" tIns="0" rIns="0" bIns="0" anchor="t">
            <a:spAutoFit/>
          </a:bodyPr>
          <a:lstStyle/>
          <a:p>
            <a:pPr algn="l"/>
            <a:r>
              <a:rPr sz="1650" b="0" i="0" u="none">
                <a:solidFill>
                  <a:srgbClr val="1E293B"/>
                </a:solidFill>
                <a:latin typeface="Poppins SemiBold"/>
              </a:rPr>
              <a:t>Validation Rigor &amp; Stability</a:t>
            </a:r>
          </a:p>
        </p:txBody>
      </p:sp>
      <p:sp>
        <p:nvSpPr>
          <p:cNvPr id="7" name="TextBox 6"/>
          <p:cNvSpPr txBox="1"/>
          <p:nvPr/>
        </p:nvSpPr>
        <p:spPr>
          <a:xfrm>
            <a:off x="6286500" y="3128069"/>
            <a:ext cx="533400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Used temporal block splitting (Time-Series Split) rather than random K-Fold to mimic real-world forecasting deployment.</a:t>
            </a:r>
          </a:p>
        </p:txBody>
      </p:sp>
      <p:sp>
        <p:nvSpPr>
          <p:cNvPr id="8" name="TextBox 7"/>
          <p:cNvSpPr txBox="1"/>
          <p:nvPr/>
        </p:nvSpPr>
        <p:spPr>
          <a:xfrm>
            <a:off x="6286500" y="3714750"/>
            <a:ext cx="5334000" cy="47238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Cross-validation standard deviation across 5 folds was </a:t>
            </a:r>
            <a:r>
              <a:rPr sz="1200" b="1" i="0" u="none">
                <a:solidFill>
                  <a:srgbClr val="475569"/>
                </a:solidFill>
                <a:latin typeface="Inter"/>
              </a:rPr>
              <a:t>±0.042 min MAE</a:t>
            </a:r>
            <a:r>
              <a:rPr sz="1200" b="0" i="0" u="none">
                <a:solidFill>
                  <a:srgbClr val="475569"/>
                </a:solidFill>
                <a:latin typeface="Inter"/>
              </a:rPr>
              <a:t>, confirming strong model stability and zero temporal over-fitting.</a:t>
            </a:r>
          </a:p>
        </p:txBody>
      </p:sp>
      <p:sp>
        <p:nvSpPr>
          <p:cNvPr id="9" name="Rectangle 8"/>
          <p:cNvSpPr/>
          <p:nvPr/>
        </p:nvSpPr>
        <p:spPr>
          <a:xfrm>
            <a:off x="6286500" y="4301430"/>
            <a:ext cx="5334000" cy="609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38900" y="4415730"/>
            <a:ext cx="5029200" cy="381000"/>
          </a:xfrm>
          <a:prstGeom prst="rect">
            <a:avLst/>
          </a:prstGeom>
          <a:noFill/>
        </p:spPr>
        <p:txBody>
          <a:bodyPr wrap="square" lIns="0" tIns="0" rIns="0" bIns="0" anchor="t">
            <a:spAutoFit/>
          </a:bodyPr>
          <a:lstStyle/>
          <a:p>
            <a:pPr algn="l"/>
            <a:r>
              <a:rPr sz="1200" b="1" i="0" u="none">
                <a:solidFill>
                  <a:srgbClr val="1E293B"/>
                </a:solidFill>
                <a:latin typeface="Inter"/>
              </a:rPr>
              <a:t>Generalization Metric:</a:t>
            </a:r>
            <a:r>
              <a:rPr sz="1200" b="0" i="0" u="none">
                <a:solidFill>
                  <a:srgbClr val="000000"/>
                </a:solidFill>
                <a:latin typeface="Inter"/>
              </a:rPr>
              <a:t> Train MAE (3.39m) vs Val MAE (3.48m) demonstrates tight convergence with minimal variance.</a:t>
            </a:r>
          </a:p>
        </p:txBody>
      </p:sp>
      <p:sp>
        <p:nvSpPr>
          <p:cNvPr id="11" name="Rectangle 10"/>
          <p:cNvSpPr/>
          <p:nvPr/>
        </p:nvSpPr>
        <p:spPr>
          <a:xfrm>
            <a:off x="6286500" y="4301430"/>
            <a:ext cx="38100" cy="6096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44624" y="476250"/>
            <a:ext cx="11104669" cy="485775"/>
          </a:xfrm>
          <a:prstGeom prst="rect">
            <a:avLst/>
          </a:prstGeom>
          <a:noFill/>
        </p:spPr>
        <p:txBody>
          <a:bodyPr wrap="square" lIns="0" tIns="0" rIns="0" bIns="0" anchor="ctr">
            <a:spAutoFit/>
          </a:bodyPr>
          <a:lstStyle/>
          <a:p>
            <a:pPr algn="l"/>
            <a:r>
              <a:rPr sz="2550" b="0" i="0" u="none">
                <a:solidFill>
                  <a:srgbClr val="1E293B"/>
                </a:solidFill>
                <a:latin typeface="Poppins SemiBold"/>
              </a:rPr>
              <a:t>Cross Validation Strategy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0" y="2005012"/>
            <a:ext cx="5334000" cy="3619500"/>
          </a:xfrm>
          <a:prstGeom prst="rect">
            <a:avLst/>
          </a:prstGeom>
        </p:spPr>
      </p:pic>
      <p:pic>
        <p:nvPicPr>
          <p:cNvPr id="4" name="Picture 3" descr="image.png"/>
          <p:cNvPicPr>
            <a:picLocks noChangeAspect="1"/>
          </p:cNvPicPr>
          <p:nvPr/>
        </p:nvPicPr>
        <p:blipFill>
          <a:blip r:embed="rId4"/>
          <a:stretch>
            <a:fillRect/>
          </a:stretch>
        </p:blipFill>
        <p:spPr>
          <a:xfrm>
            <a:off x="571500" y="557212"/>
            <a:ext cx="320724" cy="323850"/>
          </a:xfrm>
          <a:prstGeom prst="rect">
            <a:avLst/>
          </a:prstGeom>
        </p:spPr>
      </p:pic>
      <p:sp>
        <p:nvSpPr>
          <p:cNvPr id="5" name="TextBox 4"/>
          <p:cNvSpPr txBox="1"/>
          <p:nvPr/>
        </p:nvSpPr>
        <p:spPr>
          <a:xfrm>
            <a:off x="571500" y="2005012"/>
            <a:ext cx="5600700" cy="314325"/>
          </a:xfrm>
          <a:prstGeom prst="rect">
            <a:avLst/>
          </a:prstGeom>
          <a:noFill/>
        </p:spPr>
        <p:txBody>
          <a:bodyPr wrap="square" lIns="0" tIns="0" rIns="0" bIns="0" anchor="t">
            <a:spAutoFit/>
          </a:bodyPr>
          <a:lstStyle/>
          <a:p>
            <a:pPr algn="l"/>
            <a:r>
              <a:rPr sz="1650" b="0" i="0" u="none">
                <a:solidFill>
                  <a:srgbClr val="1E293B"/>
                </a:solidFill>
                <a:latin typeface="Poppins SemiBold"/>
              </a:rPr>
              <a:t>Residual Breakdown &amp; Failure Modes</a:t>
            </a:r>
          </a:p>
        </p:txBody>
      </p:sp>
      <p:sp>
        <p:nvSpPr>
          <p:cNvPr id="6" name="TextBox 5"/>
          <p:cNvSpPr txBox="1"/>
          <p:nvPr/>
        </p:nvSpPr>
        <p:spPr>
          <a:xfrm>
            <a:off x="571500" y="2414587"/>
            <a:ext cx="5334000" cy="472380"/>
          </a:xfrm>
          <a:prstGeom prst="rect">
            <a:avLst/>
          </a:prstGeom>
          <a:noFill/>
        </p:spPr>
        <p:txBody>
          <a:bodyPr wrap="square" lIns="0" tIns="0" rIns="0" bIns="0" anchor="t">
            <a:spAutoFit/>
          </a:bodyPr>
          <a:lstStyle/>
          <a:p>
            <a:pPr algn="l">
              <a:lnSpc>
                <a:spcPts val="1860"/>
              </a:lnSpc>
            </a:pPr>
            <a:r>
              <a:rPr sz="1200" b="1" i="0" u="none">
                <a:solidFill>
                  <a:srgbClr val="475569"/>
                </a:solidFill>
                <a:latin typeface="Inter"/>
              </a:rPr>
              <a:t>Short Trips (&lt;10 mins):</a:t>
            </a:r>
            <a:r>
              <a:rPr sz="1200" b="0" i="0" u="none">
                <a:solidFill>
                  <a:srgbClr val="475569"/>
                </a:solidFill>
                <a:latin typeface="Inter"/>
              </a:rPr>
              <a:t> High accuracy with MAE of 1.82 min; predictions closely track localized grid movement.</a:t>
            </a:r>
          </a:p>
        </p:txBody>
      </p:sp>
      <p:sp>
        <p:nvSpPr>
          <p:cNvPr id="7" name="TextBox 6"/>
          <p:cNvSpPr txBox="1"/>
          <p:nvPr/>
        </p:nvSpPr>
        <p:spPr>
          <a:xfrm>
            <a:off x="571500" y="3001267"/>
            <a:ext cx="5334000" cy="472380"/>
          </a:xfrm>
          <a:prstGeom prst="rect">
            <a:avLst/>
          </a:prstGeom>
          <a:noFill/>
        </p:spPr>
        <p:txBody>
          <a:bodyPr wrap="square" lIns="0" tIns="0" rIns="0" bIns="0" anchor="t">
            <a:spAutoFit/>
          </a:bodyPr>
          <a:lstStyle/>
          <a:p>
            <a:pPr algn="l">
              <a:lnSpc>
                <a:spcPts val="1860"/>
              </a:lnSpc>
            </a:pPr>
            <a:r>
              <a:rPr sz="1200" b="1" i="0" u="none">
                <a:solidFill>
                  <a:srgbClr val="475569"/>
                </a:solidFill>
                <a:latin typeface="Inter"/>
              </a:rPr>
              <a:t>Long Trips (&gt;45 mins):</a:t>
            </a:r>
            <a:r>
              <a:rPr sz="1200" b="0" i="0" u="none">
                <a:solidFill>
                  <a:srgbClr val="475569"/>
                </a:solidFill>
                <a:latin typeface="Inter"/>
              </a:rPr>
              <a:t> Error increases to 6.12 min MAE primarily due to unmodeled weather spikes and tunnel bottlenecks.</a:t>
            </a:r>
          </a:p>
        </p:txBody>
      </p:sp>
      <p:sp>
        <p:nvSpPr>
          <p:cNvPr id="8" name="TextBox 7"/>
          <p:cNvSpPr txBox="1"/>
          <p:nvPr/>
        </p:nvSpPr>
        <p:spPr>
          <a:xfrm>
            <a:off x="571500" y="3587948"/>
            <a:ext cx="5334000" cy="472380"/>
          </a:xfrm>
          <a:prstGeom prst="rect">
            <a:avLst/>
          </a:prstGeom>
          <a:noFill/>
        </p:spPr>
        <p:txBody>
          <a:bodyPr wrap="square" lIns="0" tIns="0" rIns="0" bIns="0" anchor="t">
            <a:spAutoFit/>
          </a:bodyPr>
          <a:lstStyle/>
          <a:p>
            <a:pPr algn="l">
              <a:lnSpc>
                <a:spcPts val="1860"/>
              </a:lnSpc>
            </a:pPr>
            <a:r>
              <a:rPr sz="1200" b="1" i="0" u="none">
                <a:solidFill>
                  <a:srgbClr val="475569"/>
                </a:solidFill>
                <a:latin typeface="Inter"/>
              </a:rPr>
              <a:t>SHAP Attribution:</a:t>
            </a:r>
            <a:r>
              <a:rPr sz="1200" b="0" i="0" u="none">
                <a:solidFill>
                  <a:srgbClr val="475569"/>
                </a:solidFill>
                <a:latin typeface="Inter"/>
              </a:rPr>
              <a:t> Spatial zone interactions and airport flags drive 64% of prediction updates, followed by hourly congestion factors.</a:t>
            </a:r>
          </a:p>
        </p:txBody>
      </p:sp>
      <p:pic>
        <p:nvPicPr>
          <p:cNvPr id="9" name="Picture 8" descr="image.png"/>
          <p:cNvPicPr>
            <a:picLocks noChangeAspect="1"/>
          </p:cNvPicPr>
          <p:nvPr/>
        </p:nvPicPr>
        <p:blipFill>
          <a:blip r:embed="rId5"/>
          <a:stretch>
            <a:fillRect/>
          </a:stretch>
        </p:blipFill>
        <p:spPr>
          <a:xfrm>
            <a:off x="6296025" y="2014537"/>
            <a:ext cx="5314950" cy="3600450"/>
          </a:xfrm>
          <a:prstGeom prst="rect">
            <a:avLst/>
          </a:prstGeom>
        </p:spPr>
      </p:pic>
      <p:sp>
        <p:nvSpPr>
          <p:cNvPr id="10" name="TextBox 9"/>
          <p:cNvSpPr txBox="1"/>
          <p:nvPr/>
        </p:nvSpPr>
        <p:spPr>
          <a:xfrm>
            <a:off x="1006524" y="476250"/>
            <a:ext cx="11144674" cy="485775"/>
          </a:xfrm>
          <a:prstGeom prst="rect">
            <a:avLst/>
          </a:prstGeom>
          <a:noFill/>
        </p:spPr>
        <p:txBody>
          <a:bodyPr wrap="square" lIns="0" tIns="0" rIns="0" bIns="0" anchor="ctr">
            <a:spAutoFit/>
          </a:bodyPr>
          <a:lstStyle/>
          <a:p>
            <a:pPr algn="l"/>
            <a:r>
              <a:rPr sz="2550" b="0" i="0" u="none">
                <a:solidFill>
                  <a:srgbClr val="1E293B"/>
                </a:solidFill>
                <a:latin typeface="Poppins SemiBold"/>
              </a:rPr>
              <a:t>Error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56557"/>
            <a:ext cx="3530649" cy="2716410"/>
          </a:xfrm>
          <a:prstGeom prst="rect">
            <a:avLst/>
          </a:prstGeom>
        </p:spPr>
      </p:pic>
      <p:pic>
        <p:nvPicPr>
          <p:cNvPr id="4" name="Picture 3" descr="image.png"/>
          <p:cNvPicPr>
            <a:picLocks noChangeAspect="1"/>
          </p:cNvPicPr>
          <p:nvPr/>
        </p:nvPicPr>
        <p:blipFill>
          <a:blip r:embed="rId4"/>
          <a:stretch>
            <a:fillRect/>
          </a:stretch>
        </p:blipFill>
        <p:spPr>
          <a:xfrm>
            <a:off x="4330749" y="2456557"/>
            <a:ext cx="3530649" cy="2716410"/>
          </a:xfrm>
          <a:prstGeom prst="rect">
            <a:avLst/>
          </a:prstGeom>
        </p:spPr>
      </p:pic>
      <p:pic>
        <p:nvPicPr>
          <p:cNvPr id="5" name="Picture 4" descr="image.png"/>
          <p:cNvPicPr>
            <a:picLocks noChangeAspect="1"/>
          </p:cNvPicPr>
          <p:nvPr/>
        </p:nvPicPr>
        <p:blipFill>
          <a:blip r:embed="rId5"/>
          <a:stretch>
            <a:fillRect/>
          </a:stretch>
        </p:blipFill>
        <p:spPr>
          <a:xfrm>
            <a:off x="8089999" y="2456557"/>
            <a:ext cx="3530649" cy="2716410"/>
          </a:xfrm>
          <a:prstGeom prst="rect">
            <a:avLst/>
          </a:prstGeom>
        </p:spPr>
      </p:pic>
      <p:pic>
        <p:nvPicPr>
          <p:cNvPr id="6" name="Picture 5" descr="image.png"/>
          <p:cNvPicPr>
            <a:picLocks noChangeAspect="1"/>
          </p:cNvPicPr>
          <p:nvPr/>
        </p:nvPicPr>
        <p:blipFill>
          <a:blip r:embed="rId6"/>
          <a:stretch>
            <a:fillRect/>
          </a:stretch>
        </p:blipFill>
        <p:spPr>
          <a:xfrm>
            <a:off x="571500" y="557212"/>
            <a:ext cx="358824" cy="323850"/>
          </a:xfrm>
          <a:prstGeom prst="rect">
            <a:avLst/>
          </a:prstGeom>
        </p:spPr>
      </p:pic>
      <p:pic>
        <p:nvPicPr>
          <p:cNvPr id="7" name="Picture 6" descr="image.png"/>
          <p:cNvPicPr>
            <a:picLocks noChangeAspect="1"/>
          </p:cNvPicPr>
          <p:nvPr/>
        </p:nvPicPr>
        <p:blipFill>
          <a:blip r:embed="rId7"/>
          <a:stretch>
            <a:fillRect/>
          </a:stretch>
        </p:blipFill>
        <p:spPr>
          <a:xfrm>
            <a:off x="847725" y="2732782"/>
            <a:ext cx="533400" cy="533400"/>
          </a:xfrm>
          <a:prstGeom prst="rect">
            <a:avLst/>
          </a:prstGeom>
        </p:spPr>
      </p:pic>
      <p:sp>
        <p:nvSpPr>
          <p:cNvPr id="8" name="TextBox 7"/>
          <p:cNvSpPr txBox="1"/>
          <p:nvPr/>
        </p:nvSpPr>
        <p:spPr>
          <a:xfrm>
            <a:off x="847725" y="3418582"/>
            <a:ext cx="3127109" cy="314325"/>
          </a:xfrm>
          <a:prstGeom prst="rect">
            <a:avLst/>
          </a:prstGeom>
          <a:noFill/>
        </p:spPr>
        <p:txBody>
          <a:bodyPr wrap="square" lIns="0" tIns="0" rIns="0" bIns="0" anchor="t">
            <a:spAutoFit/>
          </a:bodyPr>
          <a:lstStyle/>
          <a:p>
            <a:pPr algn="l"/>
            <a:r>
              <a:rPr sz="1650" b="0" i="0" u="none">
                <a:solidFill>
                  <a:srgbClr val="1E293B"/>
                </a:solidFill>
                <a:latin typeface="Poppins SemiBold"/>
              </a:rPr>
              <a:t>Champion Model</a:t>
            </a:r>
          </a:p>
        </p:txBody>
      </p:sp>
      <p:sp>
        <p:nvSpPr>
          <p:cNvPr id="9" name="TextBox 8"/>
          <p:cNvSpPr txBox="1"/>
          <p:nvPr/>
        </p:nvSpPr>
        <p:spPr>
          <a:xfrm>
            <a:off x="847725" y="3828157"/>
            <a:ext cx="2978199" cy="954285"/>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HistGradientBoosting trained on 19.5M records using log1p transformed durations, delivering </a:t>
            </a:r>
            <a:r>
              <a:rPr sz="1200" b="1" i="0" u="none">
                <a:solidFill>
                  <a:srgbClr val="475569"/>
                </a:solidFill>
                <a:latin typeface="Inter"/>
              </a:rPr>
              <a:t>3.48 min MAE</a:t>
            </a:r>
            <a:r>
              <a:rPr sz="1200" b="0" i="0" u="none">
                <a:solidFill>
                  <a:srgbClr val="475569"/>
                </a:solidFill>
                <a:latin typeface="Inter"/>
              </a:rPr>
              <a:t> with </a:t>
            </a:r>
            <a:r>
              <a:rPr sz="1200" b="1" i="0" u="none">
                <a:solidFill>
                  <a:srgbClr val="475569"/>
                </a:solidFill>
                <a:latin typeface="Inter"/>
              </a:rPr>
              <a:t>&lt;18ms inference latency</a:t>
            </a:r>
            <a:r>
              <a:rPr sz="1200" b="0" i="0" u="none">
                <a:solidFill>
                  <a:srgbClr val="475569"/>
                </a:solidFill>
                <a:latin typeface="Inter"/>
              </a:rPr>
              <a:t>.</a:t>
            </a:r>
          </a:p>
        </p:txBody>
      </p:sp>
      <p:pic>
        <p:nvPicPr>
          <p:cNvPr id="10" name="Picture 9" descr="image.png"/>
          <p:cNvPicPr>
            <a:picLocks noChangeAspect="1"/>
          </p:cNvPicPr>
          <p:nvPr/>
        </p:nvPicPr>
        <p:blipFill>
          <a:blip r:embed="rId8"/>
          <a:stretch>
            <a:fillRect/>
          </a:stretch>
        </p:blipFill>
        <p:spPr>
          <a:xfrm>
            <a:off x="4606974" y="2732782"/>
            <a:ext cx="533400" cy="533400"/>
          </a:xfrm>
          <a:prstGeom prst="rect">
            <a:avLst/>
          </a:prstGeom>
        </p:spPr>
      </p:pic>
      <p:sp>
        <p:nvSpPr>
          <p:cNvPr id="11" name="TextBox 10"/>
          <p:cNvSpPr txBox="1"/>
          <p:nvPr/>
        </p:nvSpPr>
        <p:spPr>
          <a:xfrm>
            <a:off x="4606974" y="3418582"/>
            <a:ext cx="3127109" cy="314325"/>
          </a:xfrm>
          <a:prstGeom prst="rect">
            <a:avLst/>
          </a:prstGeom>
          <a:noFill/>
        </p:spPr>
        <p:txBody>
          <a:bodyPr wrap="square" lIns="0" tIns="0" rIns="0" bIns="0" anchor="t">
            <a:spAutoFit/>
          </a:bodyPr>
          <a:lstStyle/>
          <a:p>
            <a:pPr algn="l"/>
            <a:r>
              <a:rPr sz="1650" b="0" i="0" u="none">
                <a:solidFill>
                  <a:srgbClr val="1E293B"/>
                </a:solidFill>
                <a:latin typeface="Poppins SemiBold"/>
              </a:rPr>
              <a:t>Deployment Architecture</a:t>
            </a:r>
          </a:p>
        </p:txBody>
      </p:sp>
      <p:sp>
        <p:nvSpPr>
          <p:cNvPr id="12" name="TextBox 11"/>
          <p:cNvSpPr txBox="1"/>
          <p:nvPr/>
        </p:nvSpPr>
        <p:spPr>
          <a:xfrm>
            <a:off x="4606974" y="3828157"/>
            <a:ext cx="2978199" cy="954285"/>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Serialized via joblib and served as a lightweight FastAPI REST microservice with automated continuous retraining triggers.</a:t>
            </a:r>
          </a:p>
        </p:txBody>
      </p:sp>
      <p:pic>
        <p:nvPicPr>
          <p:cNvPr id="13" name="Picture 12" descr="image.png"/>
          <p:cNvPicPr>
            <a:picLocks noChangeAspect="1"/>
          </p:cNvPicPr>
          <p:nvPr/>
        </p:nvPicPr>
        <p:blipFill>
          <a:blip r:embed="rId9"/>
          <a:stretch>
            <a:fillRect/>
          </a:stretch>
        </p:blipFill>
        <p:spPr>
          <a:xfrm>
            <a:off x="8366224" y="2732782"/>
            <a:ext cx="533400" cy="533400"/>
          </a:xfrm>
          <a:prstGeom prst="rect">
            <a:avLst/>
          </a:prstGeom>
        </p:spPr>
      </p:pic>
      <p:sp>
        <p:nvSpPr>
          <p:cNvPr id="14" name="TextBox 13"/>
          <p:cNvSpPr txBox="1"/>
          <p:nvPr/>
        </p:nvSpPr>
        <p:spPr>
          <a:xfrm>
            <a:off x="8366224" y="3418582"/>
            <a:ext cx="3127109" cy="314325"/>
          </a:xfrm>
          <a:prstGeom prst="rect">
            <a:avLst/>
          </a:prstGeom>
          <a:noFill/>
        </p:spPr>
        <p:txBody>
          <a:bodyPr wrap="square" lIns="0" tIns="0" rIns="0" bIns="0" anchor="t">
            <a:spAutoFit/>
          </a:bodyPr>
          <a:lstStyle/>
          <a:p>
            <a:pPr algn="l"/>
            <a:r>
              <a:rPr sz="1650" b="0" i="0" u="none">
                <a:solidFill>
                  <a:srgbClr val="1E293B"/>
                </a:solidFill>
                <a:latin typeface="Poppins SemiBold"/>
              </a:rPr>
              <a:t>Future Extensions</a:t>
            </a:r>
          </a:p>
        </p:txBody>
      </p:sp>
      <p:sp>
        <p:nvSpPr>
          <p:cNvPr id="15" name="TextBox 14"/>
          <p:cNvSpPr txBox="1"/>
          <p:nvPr/>
        </p:nvSpPr>
        <p:spPr>
          <a:xfrm>
            <a:off x="8366224" y="3828157"/>
            <a:ext cx="2978199" cy="944760"/>
          </a:xfrm>
          <a:prstGeom prst="rect">
            <a:avLst/>
          </a:prstGeom>
          <a:noFill/>
        </p:spPr>
        <p:txBody>
          <a:bodyPr wrap="square" lIns="0" tIns="0" rIns="0" bIns="0" anchor="t">
            <a:spAutoFit/>
          </a:bodyPr>
          <a:lstStyle/>
          <a:p>
            <a:pPr algn="l">
              <a:lnSpc>
                <a:spcPts val="1860"/>
              </a:lnSpc>
            </a:pPr>
            <a:r>
              <a:rPr sz="1200" b="0" i="0" u="none">
                <a:solidFill>
                  <a:srgbClr val="475569"/>
                </a:solidFill>
                <a:latin typeface="Inter"/>
              </a:rPr>
              <a:t>Integrate real-time OSRM routing distance API calls, live precipitation feed ingestion, and graph neural network spatial embeddings.</a:t>
            </a:r>
          </a:p>
        </p:txBody>
      </p:sp>
      <p:pic>
        <p:nvPicPr>
          <p:cNvPr id="16" name="Picture 15" descr="image.png"/>
          <p:cNvPicPr>
            <a:picLocks noChangeAspect="1"/>
          </p:cNvPicPr>
          <p:nvPr/>
        </p:nvPicPr>
        <p:blipFill>
          <a:blip r:embed="rId10"/>
          <a:stretch>
            <a:fillRect/>
          </a:stretch>
        </p:blipFill>
        <p:spPr>
          <a:xfrm>
            <a:off x="981075" y="2847082"/>
            <a:ext cx="266700" cy="304800"/>
          </a:xfrm>
          <a:prstGeom prst="rect">
            <a:avLst/>
          </a:prstGeom>
        </p:spPr>
      </p:pic>
      <p:pic>
        <p:nvPicPr>
          <p:cNvPr id="17" name="Picture 16" descr="image.png"/>
          <p:cNvPicPr>
            <a:picLocks noChangeAspect="1"/>
          </p:cNvPicPr>
          <p:nvPr/>
        </p:nvPicPr>
        <p:blipFill>
          <a:blip r:embed="rId11"/>
          <a:stretch>
            <a:fillRect/>
          </a:stretch>
        </p:blipFill>
        <p:spPr>
          <a:xfrm>
            <a:off x="4721274" y="2847082"/>
            <a:ext cx="304800" cy="304800"/>
          </a:xfrm>
          <a:prstGeom prst="rect">
            <a:avLst/>
          </a:prstGeom>
        </p:spPr>
      </p:pic>
      <p:pic>
        <p:nvPicPr>
          <p:cNvPr id="18" name="Picture 17" descr="image.png"/>
          <p:cNvPicPr>
            <a:picLocks noChangeAspect="1"/>
          </p:cNvPicPr>
          <p:nvPr/>
        </p:nvPicPr>
        <p:blipFill>
          <a:blip r:embed="rId12"/>
          <a:stretch>
            <a:fillRect/>
          </a:stretch>
        </p:blipFill>
        <p:spPr>
          <a:xfrm>
            <a:off x="8480524" y="2847082"/>
            <a:ext cx="304800" cy="304800"/>
          </a:xfrm>
          <a:prstGeom prst="rect">
            <a:avLst/>
          </a:prstGeom>
        </p:spPr>
      </p:pic>
      <p:sp>
        <p:nvSpPr>
          <p:cNvPr id="19" name="TextBox 18"/>
          <p:cNvSpPr txBox="1"/>
          <p:nvPr/>
        </p:nvSpPr>
        <p:spPr>
          <a:xfrm>
            <a:off x="1044624" y="476250"/>
            <a:ext cx="11104669" cy="485775"/>
          </a:xfrm>
          <a:prstGeom prst="rect">
            <a:avLst/>
          </a:prstGeom>
          <a:noFill/>
        </p:spPr>
        <p:txBody>
          <a:bodyPr wrap="square" lIns="0" tIns="0" rIns="0" bIns="0" anchor="ctr">
            <a:spAutoFit/>
          </a:bodyPr>
          <a:lstStyle/>
          <a:p>
            <a:pPr algn="l"/>
            <a:r>
              <a:rPr sz="2550" b="0" i="0" u="none">
                <a:solidFill>
                  <a:srgbClr val="1E293B"/>
                </a:solidFill>
                <a:latin typeface="Poppins SemiBold"/>
              </a:rPr>
              <a:t>Champion Model &amp; Future 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3D7A"/>
        </a:solidFill>
        <a:effectLst/>
      </p:bgPr>
    </p:bg>
    <p:spTree>
      <p:nvGrpSpPr>
        <p:cNvPr id="1" name=""/>
        <p:cNvGrpSpPr/>
        <p:nvPr/>
      </p:nvGrpSpPr>
      <p:grpSpPr>
        <a:xfrm>
          <a:off x="0" y="0"/>
          <a:ext cx="0" cy="0"/>
          <a:chOff x="0" y="0"/>
          <a:chExt cx="0" cy="0"/>
        </a:xfrm>
      </p:grpSpPr>
      <p:sp>
        <p:nvSpPr>
          <p:cNvPr id="3" name="Rectangle 2"/>
          <p:cNvSpPr/>
          <p:nvPr/>
        </p:nvSpPr>
        <p:spPr>
          <a:xfrm>
            <a:off x="3012240" y="2705785"/>
            <a:ext cx="5018170" cy="1446550"/>
          </a:xfrm>
          <a:prstGeom prst="rect">
            <a:avLst/>
          </a:prstGeom>
        </p:spPr>
        <p:txBody>
          <a:bodyPr wrap="none">
            <a:spAutoFit/>
          </a:bodyPr>
          <a:lstStyle/>
          <a:p>
            <a:pPr algn="ctr">
              <a:defRPr sz="3600" b="1">
                <a:solidFill>
                  <a:srgbClr val="FFFFFF"/>
                </a:solidFill>
              </a:defRPr>
            </a:pPr>
            <a:r>
              <a:rPr lang="en-US" sz="8800" dirty="0"/>
              <a:t>Thank You</a:t>
            </a:r>
            <a:endParaRPr lang="en-US" sz="8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581</Words>
  <Application>Microsoft Office PowerPoint</Application>
  <PresentationFormat>Widescreen</PresentationFormat>
  <Paragraphs>74</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Inter</vt:lpstr>
      <vt:lpstr>Inter SemiBold</vt:lpstr>
      <vt:lpstr>Poppins</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Kainat Fatima</dc:creator>
  <cp:keywords/>
  <dc:description>generated using python-pptx</dc:description>
  <cp:lastModifiedBy>LENOVO</cp:lastModifiedBy>
  <cp:revision>2</cp:revision>
  <dcterms:created xsi:type="dcterms:W3CDTF">2013-01-27T09:14:16Z</dcterms:created>
  <dcterms:modified xsi:type="dcterms:W3CDTF">2026-07-27T05:43:37Z</dcterms:modified>
  <cp:category/>
</cp:coreProperties>
</file>